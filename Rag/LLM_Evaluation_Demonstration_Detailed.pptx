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9852095-c034-d963-dccf-730f56bf0de7}">
          <p14:sldIdLst>
            <p14:sldId id="256"/>
            <p14:sldId id="257"/>
            <p14:sldId id="258"/>
          </p14:sldIdLst>
        </p14:section>
        <p14:section name="1 Introduction" id="{ef52c6b6-562a-46b2-73ce-9704b4ad11ff}">
          <p14:sldIdLst>
            <p14:sldId id="259"/>
            <p14:sldId id="260"/>
            <p14:sldId id="261"/>
          </p14:sldIdLst>
        </p14:section>
        <p14:section name="2 Non-RAG evaluation" id="{00d513c7-4073-15b2-3311-cec9a354c738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3 RAG pipeline" id="{253b8435-8a88-fbf7-5952-a16a32190b5d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4 RAG evaluation" id="{38e4519f-b9b9-03aa-ab92-984a0854460c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5 Conclusion" id="{3cf2d796-fd53-2401-e10e-0fee23c95d83}">
          <p14:sldIdLst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Faithfulness</c:v>
                  </c:pt>
                  <c:pt idx="1">
                    <c:v>Answer Relevance</c:v>
                  </c:pt>
                  <c:pt idx="2">
                    <c:v>Context Precision</c:v>
                  </c:pt>
                  <c:pt idx="3">
                    <c:v>Context Recall</c:v>
                  </c:pt>
                  <c:pt idx="4">
                    <c:v>Answer Correctness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0.88</c:v>
                </c:pt>
                <c:pt idx="2">
                  <c:v>0.74</c:v>
                </c:pt>
                <c:pt idx="3">
                  <c:v>0.62</c:v>
                </c:pt>
                <c:pt idx="4">
                  <c:v>0.79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set the agenda. Two demonstrations: a standalone LLM application, then the same application extended with RAG. Emphasise that the goal is understanding evaluation design, not framework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sections. Mention the 10-minute mandatory break; it will sit between the RAG build and the RAG evaluation sections unless the session pace suggests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briefly; tie them to the two demonstrations. Highlight that business objectives drive metric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a classifier with a text generator. In traditional ML a prediction is simply right or wrong. In generation many answers can be acceptable, and some fluent answers are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Subjective language generation has several quality dimensions. A single score hides trade-offs. Ask learners which dimension matters most for a marketing team versus a compliance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storyline. Demo 1 evaluates a standalone LLM with conventional NLP metrics. Demo 2 adds retrieval and shows why new metrics become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business objective before touching any code. The metrics we pick later must serve this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prepared notebook. Keep the reference set small but representative. Emphasise that reference outputs are a design decision, not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metric: what it measures, how to read a high or low value, and where it breaks. Do not dwell on formulas.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these are the strictest metrics. Show an example where Exact Match is zero although the copy is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BLEU is precision oriented: how much of the output appears in the reference. Highlight the brevity penalty.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ROUGE is recall oriented: how much of the reference is covered. Contrast with BLEU.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stemming and synonym matching rescue a paraphrased sentence that BLEU scores poorly.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BERTScore is semantic. Mention score rescaling against a baseline to spread the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Output B shows why overlap metrics cannot be trusted alone: it is almost identical to the reference but states the wrong battery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real examples from the notebook where BLEU and BERTScore disagree. This is the key lesson of Demo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section: list the limitations, then show one prompt change and one temperature change, re-run on the same reference set, and compare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one lever at a time and re-run the same reference set. Record the scores so changes stay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component as you run its cell. Indexing happens once; the query-time steps run on every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of each LangChain component and ChromaDB operation as you execute it. Everything runs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common starting points, not rules. Tune them against the evaluation scores covered in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each cell live. Point out that indexing runs once, while retrieval and generation run for every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same questions through both applications and compare the answers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both live. For the failure case, rephrase a question so it no longer matches the document wording, or query for content that is not in the collection.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the demo to real products learners may build or use at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mandatory 10-minute break. Adjust timing to the flow of the session; an additional break is at your discretion.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RAG answer can be wrong because retrieval failed or because generation failed. Metrics must separate these two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RAGAS as an industry-standard RAG evaluation framework. Map each metric to the question it answers and to the layer it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RAGAS metric reads from four fields. Show a real row from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answer with two unsupported claims to show how the ratio is 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this with faithfulness: relevance asks whether the answer fits the question, not whether it is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metrics evaluate the retriever alone. Show a query where the right chunk is retrieved but ranked fifth.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the headline metric and the others as the diagnostic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values are illustrative so learners can practise reading a pattern. Replace them with the real run from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bands are rules of thumb. Real thresholds come from the business cost of a wrong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example where retrieval succeeds but generation fails, and one where the answer reads well but retrieval was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comparison table from the notebook run: same questions, both applications, side-by-side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score pattern to decide where to look first: retrieval, prompt design, context quality 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is not a one-time gate. Each change to prompt, chunking or retrieval is re-scored on the same question set. Link scores to business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full workflow, then revisit the difference between evaluating standalone LLM applications and RAG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learners to use an LLM for knowledge discovery, code creation and debugging, and tool troubleshooting. Demonstrate one live example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Encourage learners to raise doubts about metric choice, RAG design decisions and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LLM Evaluation Demonstration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91640"/>
            <a:ext cx="63093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DEMONSTRATION SESSION  |  3 HOURS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6916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LLM Evaluation Demonstration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Evaluating non-RAG and RAG applications with industry-standard metrics and frameworks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74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Tools: LangChain, ChromaDB, Ollama, RAGAS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7772400" y="1554480"/>
            <a:ext cx="38862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7" name="Number 1"/>
          <p:cNvSpPr/>
          <p:nvPr/>
        </p:nvSpPr>
        <p:spPr>
          <a:xfrm>
            <a:off x="8001000" y="19019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1691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Standalone LLM and RAG responses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7772400" y="3017520"/>
            <a:ext cx="38862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/>
          <p:nvPr/>
        </p:nvSpPr>
        <p:spPr>
          <a:xfrm>
            <a:off x="8001000" y="33649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31546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Retrieve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LangChain with ChromaDB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772400" y="4480560"/>
            <a:ext cx="3886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13" name="Number 3"/>
          <p:cNvSpPr/>
          <p:nvPr/>
        </p:nvSpPr>
        <p:spPr>
          <a:xfrm>
            <a:off x="8001000" y="48280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3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4617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Evaluate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NLP metrics and RAGAS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Session agenda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76809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731520" y="18379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5564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Introduction to LLM evaluation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Why LLM evaluation differs from traditional ML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6916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20 min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548640" y="2606040"/>
            <a:ext cx="76809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/>
          <p:nvPr/>
        </p:nvSpPr>
        <p:spPr>
          <a:xfrm>
            <a:off x="731520" y="27523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67004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Evaluating a non-RAG LLM 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BLEU, ROUGE, METEOR, BERTScore, Exact Match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6060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55 min</a:t>
            </a:r>
            <a:endParaRPr lang="en-US" sz="2000" dirty="0"/>
          </a:p>
        </p:txBody>
      </p:sp>
      <p:sp>
        <p:nvSpPr>
          <p:cNvPr id="13" name="Card"/>
          <p:cNvSpPr/>
          <p:nvPr/>
        </p:nvSpPr>
        <p:spPr>
          <a:xfrm>
            <a:off x="548640" y="3520440"/>
            <a:ext cx="76809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731520" y="36667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58444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Building a RAG pipeline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LangChain and ChromaDB, run locally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35204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40 min</a:t>
            </a:r>
            <a:endParaRPr lang="en-US" sz="2000" dirty="0"/>
          </a:p>
        </p:txBody>
      </p:sp>
      <p:sp>
        <p:nvSpPr>
          <p:cNvPr id="17" name="Card"/>
          <p:cNvSpPr/>
          <p:nvPr/>
        </p:nvSpPr>
        <p:spPr>
          <a:xfrm>
            <a:off x="548640" y="4434840"/>
            <a:ext cx="76809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8" name="Number 4"/>
          <p:cNvSpPr/>
          <p:nvPr/>
        </p:nvSpPr>
        <p:spPr>
          <a:xfrm>
            <a:off x="731520" y="45811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449884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Evaluating the RAG 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Faithfulness, relevance and context metrics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44348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50 min</a:t>
            </a:r>
            <a:endParaRPr lang="en-US" sz="2000" dirty="0"/>
          </a:p>
        </p:txBody>
      </p:sp>
      <p:sp>
        <p:nvSpPr>
          <p:cNvPr id="21" name="Card"/>
          <p:cNvSpPr/>
          <p:nvPr/>
        </p:nvSpPr>
        <p:spPr>
          <a:xfrm>
            <a:off x="548640" y="5349240"/>
            <a:ext cx="76809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2" name="Number 5"/>
          <p:cNvSpPr/>
          <p:nvPr/>
        </p:nvSpPr>
        <p:spPr>
          <a:xfrm>
            <a:off x="731520" y="54955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63040" y="541324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Conclusion and Q&amp;A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Workflow recap and open discussion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53492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10 min</a:t>
            </a:r>
            <a:endParaRPr lang="en-US" sz="2000" dirty="0"/>
          </a:p>
        </p:txBody>
      </p:sp>
      <p:sp>
        <p:nvSpPr>
          <p:cNvPr id="25" name="Card"/>
          <p:cNvSpPr/>
          <p:nvPr/>
        </p:nvSpPr>
        <p:spPr>
          <a:xfrm>
            <a:off x="8595360" y="1691640"/>
            <a:ext cx="3044952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869680" y="17830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hours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Total session length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8595360" y="3236976"/>
            <a:ext cx="3044952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869680" y="3328416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Demonstrations on one use case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595360" y="4782312"/>
            <a:ext cx="3044952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869680" y="4873752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Mandatory break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LEARNING OUTCOMES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you will take away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731520" y="19431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916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Understand how LLM applications are evaluated in industry workflows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99632" y="169164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6382512" y="19431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022592" y="16916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Observe evaluation pipelines for non-RAG and RAG systems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278892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/>
          <p:nvPr/>
        </p:nvSpPr>
        <p:spPr>
          <a:xfrm>
            <a:off x="731520" y="30403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7889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See how metrics differ by application architecture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99632" y="278892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5" name="Number 4"/>
          <p:cNvSpPr/>
          <p:nvPr/>
        </p:nvSpPr>
        <p:spPr>
          <a:xfrm>
            <a:off x="6382512" y="30403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022592" y="27889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Interpret common NLP, LLM and RAG evaluation metrics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548640" y="388620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8" name="Number 5"/>
          <p:cNvSpPr/>
          <p:nvPr/>
        </p:nvSpPr>
        <p:spPr>
          <a:xfrm>
            <a:off x="731520" y="41376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88620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Link business objectives to evaluation design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6199632" y="388620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1" name="Number 6"/>
          <p:cNvSpPr/>
          <p:nvPr/>
        </p:nvSpPr>
        <p:spPr>
          <a:xfrm>
            <a:off x="6382512" y="41376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22592" y="388620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Identify common failure modes through evaluation reports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548640" y="49834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4" name="Number 7"/>
          <p:cNvSpPr/>
          <p:nvPr/>
        </p:nvSpPr>
        <p:spPr>
          <a:xfrm>
            <a:off x="731520" y="52349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4983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results to improve prompts, retrieval and system design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6199632" y="49834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7" name="Number 8"/>
          <p:cNvSpPr/>
          <p:nvPr/>
        </p:nvSpPr>
        <p:spPr>
          <a:xfrm>
            <a:off x="6382512" y="52349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022592" y="4983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Relate practical evaluation workflows to real-world development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1  |  INTRODUCTION TO LLM EVALUATION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LLM evaluation is different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65176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Traditional ML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LLM applications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 type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2651760" y="2103120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3464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label or a number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6766560" y="2276856"/>
            <a:ext cx="457200" cy="29260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Card"/>
          <p:cNvSpPr/>
          <p:nvPr/>
        </p:nvSpPr>
        <p:spPr>
          <a:xfrm>
            <a:off x="7315200" y="2103120"/>
            <a:ext cx="4325112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103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Open-ended, free-form text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8712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Ground truth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2651760" y="2871216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834640" y="28712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correct answer per example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6766560" y="3044952"/>
            <a:ext cx="457200" cy="29260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7" name="Card"/>
          <p:cNvSpPr/>
          <p:nvPr/>
        </p:nvSpPr>
        <p:spPr>
          <a:xfrm>
            <a:off x="7315200" y="2871216"/>
            <a:ext cx="4325112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498080" y="287121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Many acceptable answers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6393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Typical metrics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2651760" y="3639312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834640" y="36393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Accuracy, precision, recall, F1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6766560" y="3813048"/>
            <a:ext cx="457200" cy="29260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3" name="Card"/>
          <p:cNvSpPr/>
          <p:nvPr/>
        </p:nvSpPr>
        <p:spPr>
          <a:xfrm>
            <a:off x="7315200" y="3639312"/>
            <a:ext cx="4325112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98080" y="36393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Several dimensions measured together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4074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Typical failure</a:t>
            </a:r>
            <a:endParaRPr lang="en-US" sz="1600" dirty="0"/>
          </a:p>
        </p:txBody>
      </p:sp>
      <p:sp>
        <p:nvSpPr>
          <p:cNvPr id="26" name="Card"/>
          <p:cNvSpPr/>
          <p:nvPr/>
        </p:nvSpPr>
        <p:spPr>
          <a:xfrm>
            <a:off x="2651760" y="4407408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834640" y="44074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wrong prediction</a:t>
            </a:r>
            <a:endParaRPr lang="en-US" sz="1400" dirty="0"/>
          </a:p>
        </p:txBody>
      </p:sp>
      <p:sp>
        <p:nvSpPr>
          <p:cNvPr id="28" name="Arrow"/>
          <p:cNvSpPr/>
          <p:nvPr/>
        </p:nvSpPr>
        <p:spPr>
          <a:xfrm>
            <a:off x="6766560" y="4581144"/>
            <a:ext cx="457200" cy="29260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9" name="Card"/>
          <p:cNvSpPr/>
          <p:nvPr/>
        </p:nvSpPr>
        <p:spPr>
          <a:xfrm>
            <a:off x="7315200" y="4407408"/>
            <a:ext cx="4325112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498080" y="44074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Fluent but wrong or ungrounded text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1755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means</a:t>
            </a:r>
            <a:endParaRPr lang="en-US" sz="1600" dirty="0"/>
          </a:p>
        </p:txBody>
      </p:sp>
      <p:sp>
        <p:nvSpPr>
          <p:cNvPr id="32" name="Card"/>
          <p:cNvSpPr/>
          <p:nvPr/>
        </p:nvSpPr>
        <p:spPr>
          <a:xfrm>
            <a:off x="2651760" y="5175504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834640" y="51755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above a set threshold</a:t>
            </a:r>
            <a:endParaRPr lang="en-US" sz="1400" dirty="0"/>
          </a:p>
        </p:txBody>
      </p:sp>
      <p:sp>
        <p:nvSpPr>
          <p:cNvPr id="34" name="Arrow"/>
          <p:cNvSpPr/>
          <p:nvPr/>
        </p:nvSpPr>
        <p:spPr>
          <a:xfrm>
            <a:off x="6766560" y="5349240"/>
            <a:ext cx="457200" cy="29260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5" name="Card"/>
          <p:cNvSpPr/>
          <p:nvPr/>
        </p:nvSpPr>
        <p:spPr>
          <a:xfrm>
            <a:off x="7315200" y="5175504"/>
            <a:ext cx="4325112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498080" y="51755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Defined by the business objective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1  |  INTRODUCTION TO LLM EVALUATION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metric is never enough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Relevance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Does the output answer the request that was made?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15968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/>
          <p:nvPr/>
        </p:nvSpPr>
        <p:spPr>
          <a:xfrm>
            <a:off x="4544568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18464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Correctness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44568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Are the facts and claims in the text right?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083296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8311896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951976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Fluency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 the language natural, clear and well structured?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548640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8" name="Number 4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Tone and brand fit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526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Does the text match the intended voice and audience?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4315968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2" name="Number 5"/>
          <p:cNvSpPr/>
          <p:nvPr/>
        </p:nvSpPr>
        <p:spPr>
          <a:xfrm>
            <a:off x="4544568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184648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Grounding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4544568" y="4526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 every claim supported by source material?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8083296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6" name="Number 6"/>
          <p:cNvSpPr/>
          <p:nvPr/>
        </p:nvSpPr>
        <p:spPr>
          <a:xfrm>
            <a:off x="8311896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951976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Safety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8311896" y="4526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 the text free of harmful or off-policy content?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choice follows the business objective and the system architecture.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1  |  INTRODUCTION TO LLM EVALUATION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Two demonstrations, one application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475488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DEMONSTRATION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Standalone LLM application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Evaluated with NLP and LLM metrics against reference outputs.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Accuracy, Exact Match, BLEU, ROUGE, METEOR, BERTScore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5532120" y="2926080"/>
            <a:ext cx="1097280" cy="5486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Add retrieval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885432" y="1691640"/>
            <a:ext cx="475488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DEMONSTRATION 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159752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LLM with a RAG pipeline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159752" y="2743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Evaluated for retrieval quality, grounding and answer quality.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159752" y="3611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Faithfulness, Answer Relevance, Context Precision, Context Recall, Context Relevance, Answer Correctness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Goal of the session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Understand evaluation workflows, metric interpretation and design decisions, not framework syntax.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Use case: marketing content generation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80136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Business objective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Produce accurate, on-brand marketing copy faster, with a consistent tone across campaigns.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3200400"/>
            <a:ext cx="5120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33101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Quality needs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Relevant to the brief, faithful to product facts, right tone and length.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4709160"/>
            <a:ext cx="5120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481888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Main risk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Fluent text that drifts from the brief or invents product claims.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217920" y="1691640"/>
            <a:ext cx="54223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2" name="Number 1"/>
          <p:cNvSpPr/>
          <p:nvPr/>
        </p:nvSpPr>
        <p:spPr>
          <a:xfrm>
            <a:off x="6355080" y="1755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169164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Product brief: product, audience, tone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217920" y="2423160"/>
            <a:ext cx="54223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5" name="Number 2"/>
          <p:cNvSpPr/>
          <p:nvPr/>
        </p:nvSpPr>
        <p:spPr>
          <a:xfrm>
            <a:off x="6355080" y="2487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242316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Prompt template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6217920" y="3154680"/>
            <a:ext cx="54223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8" name="Number 3"/>
          <p:cNvSpPr/>
          <p:nvPr/>
        </p:nvSpPr>
        <p:spPr>
          <a:xfrm>
            <a:off x="6355080" y="32186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315468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Locally hosted LLM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6217920" y="3886200"/>
            <a:ext cx="54223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1" name="Number 4"/>
          <p:cNvSpPr/>
          <p:nvPr/>
        </p:nvSpPr>
        <p:spPr>
          <a:xfrm>
            <a:off x="6355080" y="3950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38862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Generated marketing copy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217920" y="4617720"/>
            <a:ext cx="54223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/>
          <p:nvPr/>
        </p:nvSpPr>
        <p:spPr>
          <a:xfrm>
            <a:off x="6355080" y="4681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461772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 with reference copy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6217920" y="5349240"/>
            <a:ext cx="5422392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7" name="Number 6"/>
          <p:cNvSpPr/>
          <p:nvPr/>
        </p:nvSpPr>
        <p:spPr>
          <a:xfrm>
            <a:off x="6355080" y="5413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995160" y="534924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Metric scores and review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Building the evaluation workflow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Construct the prompt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03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System instruction, product brief, tone and length constraints.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3172968" y="320040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Card"/>
          <p:cNvSpPr/>
          <p:nvPr/>
        </p:nvSpPr>
        <p:spPr>
          <a:xfrm>
            <a:off x="3374136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3602736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602736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Choose representative inputs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02736" y="3703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Varied products, audiences and channels such as email, social and web.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5998464" y="320040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Card"/>
          <p:cNvSpPr/>
          <p:nvPr/>
        </p:nvSpPr>
        <p:spPr>
          <a:xfrm>
            <a:off x="6199632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6" name="Number 3"/>
          <p:cNvSpPr/>
          <p:nvPr/>
        </p:nvSpPr>
        <p:spPr>
          <a:xfrm>
            <a:off x="6428232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3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428232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Prepare reference outputs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28232" y="3703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Expected copy written or approved by marketing for each input.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8823960" y="320040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0" name="Card"/>
          <p:cNvSpPr/>
          <p:nvPr/>
        </p:nvSpPr>
        <p:spPr>
          <a:xfrm>
            <a:off x="9025128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1" name="Number 4"/>
          <p:cNvSpPr/>
          <p:nvPr/>
        </p:nvSpPr>
        <p:spPr>
          <a:xfrm>
            <a:off x="9253728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4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253728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Generate and score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53728" y="3703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 the model on every input and compute metrics per output.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small, carefully chosen reference set is enough to demonstrate the workflow.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Traditional metrics at a glance</a:t>
            </a:r>
            <a:endParaRPr lang="en-US" sz="3400" dirty="0"/>
          </a:p>
        </p:txBody>
      </p:sp>
      <p:sp>
        <p:nvSpPr>
          <p:cNvPr id="5" name="Header Metric"/>
          <p:cNvSpPr/>
          <p:nvPr/>
        </p:nvSpPr>
        <p:spPr>
          <a:xfrm>
            <a:off x="548640" y="1691640"/>
            <a:ext cx="188366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Metric</a:t>
            </a:r>
            <a:endParaRPr lang="en-US" sz="1400" dirty="0"/>
          </a:p>
        </p:txBody>
      </p:sp>
      <p:sp>
        <p:nvSpPr>
          <p:cNvPr id="6" name="Header What it measures"/>
          <p:cNvSpPr/>
          <p:nvPr/>
        </p:nvSpPr>
        <p:spPr>
          <a:xfrm>
            <a:off x="2468880" y="1691640"/>
            <a:ext cx="453542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it measures</a:t>
            </a:r>
            <a:endParaRPr lang="en-US" sz="1400" dirty="0"/>
          </a:p>
        </p:txBody>
      </p:sp>
      <p:sp>
        <p:nvSpPr>
          <p:cNvPr id="7" name="Header How to read it"/>
          <p:cNvSpPr/>
          <p:nvPr/>
        </p:nvSpPr>
        <p:spPr>
          <a:xfrm>
            <a:off x="7040880" y="1691640"/>
            <a:ext cx="456285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How to read it</a:t>
            </a:r>
            <a:endParaRPr lang="en-US" sz="1400" dirty="0"/>
          </a:p>
        </p:txBody>
      </p:sp>
      <p:sp>
        <p:nvSpPr>
          <p:cNvPr id="8" name="Cell 0-0"/>
          <p:cNvSpPr/>
          <p:nvPr/>
        </p:nvSpPr>
        <p:spPr>
          <a:xfrm>
            <a:off x="548640" y="2185416"/>
            <a:ext cx="18836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Accuracy</a:t>
            </a:r>
            <a:endParaRPr lang="en-US" sz="1400" dirty="0"/>
          </a:p>
        </p:txBody>
      </p:sp>
      <p:sp>
        <p:nvSpPr>
          <p:cNvPr id="9" name="Cell 0-1"/>
          <p:cNvSpPr/>
          <p:nvPr/>
        </p:nvSpPr>
        <p:spPr>
          <a:xfrm>
            <a:off x="2468880" y="2185416"/>
            <a:ext cx="453542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of outputs judged correct against a label</a:t>
            </a:r>
            <a:endParaRPr lang="en-US" sz="1400" dirty="0"/>
          </a:p>
        </p:txBody>
      </p:sp>
      <p:sp>
        <p:nvSpPr>
          <p:cNvPr id="10" name="Cell 0-2"/>
          <p:cNvSpPr/>
          <p:nvPr/>
        </p:nvSpPr>
        <p:spPr>
          <a:xfrm>
            <a:off x="7040880" y="2185416"/>
            <a:ext cx="456285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Suits classification-style checks such as tagging</a:t>
            </a:r>
            <a:endParaRPr lang="en-US" sz="1400" dirty="0"/>
          </a:p>
        </p:txBody>
      </p:sp>
      <p:sp>
        <p:nvSpPr>
          <p:cNvPr id="11" name="Cell 1-0"/>
          <p:cNvSpPr/>
          <p:nvPr/>
        </p:nvSpPr>
        <p:spPr>
          <a:xfrm>
            <a:off x="548640" y="2843784"/>
            <a:ext cx="18836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Exact Match</a:t>
            </a:r>
            <a:endParaRPr lang="en-US" sz="1400" dirty="0"/>
          </a:p>
        </p:txBody>
      </p:sp>
      <p:sp>
        <p:nvSpPr>
          <p:cNvPr id="12" name="Cell 1-1"/>
          <p:cNvSpPr/>
          <p:nvPr/>
        </p:nvSpPr>
        <p:spPr>
          <a:xfrm>
            <a:off x="2468880" y="2843784"/>
            <a:ext cx="453542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identical to the reference text</a:t>
            </a:r>
            <a:endParaRPr lang="en-US" sz="1400" dirty="0"/>
          </a:p>
        </p:txBody>
      </p:sp>
      <p:sp>
        <p:nvSpPr>
          <p:cNvPr id="13" name="Cell 1-2"/>
          <p:cNvSpPr/>
          <p:nvPr/>
        </p:nvSpPr>
        <p:spPr>
          <a:xfrm>
            <a:off x="7040880" y="2843784"/>
            <a:ext cx="456285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Very strict; near zero for open-ended copy</a:t>
            </a:r>
            <a:endParaRPr lang="en-US" sz="1400" dirty="0"/>
          </a:p>
        </p:txBody>
      </p:sp>
      <p:sp>
        <p:nvSpPr>
          <p:cNvPr id="14" name="Cell 2-0"/>
          <p:cNvSpPr/>
          <p:nvPr/>
        </p:nvSpPr>
        <p:spPr>
          <a:xfrm>
            <a:off x="548640" y="3502152"/>
            <a:ext cx="18836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BLEU</a:t>
            </a:r>
            <a:endParaRPr lang="en-US" sz="1400" dirty="0"/>
          </a:p>
        </p:txBody>
      </p:sp>
      <p:sp>
        <p:nvSpPr>
          <p:cNvPr id="15" name="Cell 2-1"/>
          <p:cNvSpPr/>
          <p:nvPr/>
        </p:nvSpPr>
        <p:spPr>
          <a:xfrm>
            <a:off x="2468880" y="3502152"/>
            <a:ext cx="453542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N-gram precision overlap with the reference</a:t>
            </a:r>
            <a:endParaRPr lang="en-US" sz="1400" dirty="0"/>
          </a:p>
        </p:txBody>
      </p:sp>
      <p:sp>
        <p:nvSpPr>
          <p:cNvPr id="16" name="Cell 2-2"/>
          <p:cNvSpPr/>
          <p:nvPr/>
        </p:nvSpPr>
        <p:spPr>
          <a:xfrm>
            <a:off x="7040880" y="3502152"/>
            <a:ext cx="456285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means close wording; punishes paraphrase</a:t>
            </a:r>
            <a:endParaRPr lang="en-US" sz="1400" dirty="0"/>
          </a:p>
        </p:txBody>
      </p:sp>
      <p:sp>
        <p:nvSpPr>
          <p:cNvPr id="17" name="Cell 3-0"/>
          <p:cNvSpPr/>
          <p:nvPr/>
        </p:nvSpPr>
        <p:spPr>
          <a:xfrm>
            <a:off x="548640" y="4160520"/>
            <a:ext cx="18836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ROUGE</a:t>
            </a:r>
            <a:endParaRPr lang="en-US" sz="1400" dirty="0"/>
          </a:p>
        </p:txBody>
      </p:sp>
      <p:sp>
        <p:nvSpPr>
          <p:cNvPr id="18" name="Cell 3-1"/>
          <p:cNvSpPr/>
          <p:nvPr/>
        </p:nvSpPr>
        <p:spPr>
          <a:xfrm>
            <a:off x="2468880" y="4160520"/>
            <a:ext cx="453542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N-gram and sequence recall against the reference</a:t>
            </a:r>
            <a:endParaRPr lang="en-US" sz="1400" dirty="0"/>
          </a:p>
        </p:txBody>
      </p:sp>
      <p:sp>
        <p:nvSpPr>
          <p:cNvPr id="19" name="Cell 3-2"/>
          <p:cNvSpPr/>
          <p:nvPr/>
        </p:nvSpPr>
        <p:spPr>
          <a:xfrm>
            <a:off x="7040880" y="4160520"/>
            <a:ext cx="456285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means more reference content is covered</a:t>
            </a:r>
            <a:endParaRPr lang="en-US" sz="1400" dirty="0"/>
          </a:p>
        </p:txBody>
      </p:sp>
      <p:sp>
        <p:nvSpPr>
          <p:cNvPr id="20" name="Cell 4-0"/>
          <p:cNvSpPr/>
          <p:nvPr/>
        </p:nvSpPr>
        <p:spPr>
          <a:xfrm>
            <a:off x="548640" y="4818888"/>
            <a:ext cx="18836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METEOR</a:t>
            </a:r>
            <a:endParaRPr lang="en-US" sz="1400" dirty="0"/>
          </a:p>
        </p:txBody>
      </p:sp>
      <p:sp>
        <p:nvSpPr>
          <p:cNvPr id="21" name="Cell 4-1"/>
          <p:cNvSpPr/>
          <p:nvPr/>
        </p:nvSpPr>
        <p:spPr>
          <a:xfrm>
            <a:off x="2468880" y="4818888"/>
            <a:ext cx="453542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Word matches with stems and synonyms, order aware</a:t>
            </a:r>
            <a:endParaRPr lang="en-US" sz="1400" dirty="0"/>
          </a:p>
        </p:txBody>
      </p:sp>
      <p:sp>
        <p:nvSpPr>
          <p:cNvPr id="22" name="Cell 4-2"/>
          <p:cNvSpPr/>
          <p:nvPr/>
        </p:nvSpPr>
        <p:spPr>
          <a:xfrm>
            <a:off x="7040880" y="4818888"/>
            <a:ext cx="456285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Softer than BLEU; rewards synonyms</a:t>
            </a:r>
            <a:endParaRPr lang="en-US" sz="1400" dirty="0"/>
          </a:p>
        </p:txBody>
      </p:sp>
      <p:sp>
        <p:nvSpPr>
          <p:cNvPr id="23" name="Cell 5-0"/>
          <p:cNvSpPr/>
          <p:nvPr/>
        </p:nvSpPr>
        <p:spPr>
          <a:xfrm>
            <a:off x="548640" y="5477256"/>
            <a:ext cx="18836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BERTScore</a:t>
            </a:r>
            <a:endParaRPr lang="en-US" sz="1400" dirty="0"/>
          </a:p>
        </p:txBody>
      </p:sp>
      <p:sp>
        <p:nvSpPr>
          <p:cNvPr id="24" name="Cell 5-1"/>
          <p:cNvSpPr/>
          <p:nvPr/>
        </p:nvSpPr>
        <p:spPr>
          <a:xfrm>
            <a:off x="2468880" y="5477256"/>
            <a:ext cx="453542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Semantic similarity from contextual embeddings</a:t>
            </a:r>
            <a:endParaRPr lang="en-US" sz="1400" dirty="0"/>
          </a:p>
        </p:txBody>
      </p:sp>
      <p:sp>
        <p:nvSpPr>
          <p:cNvPr id="25" name="Cell 5-2"/>
          <p:cNvSpPr/>
          <p:nvPr/>
        </p:nvSpPr>
        <p:spPr>
          <a:xfrm>
            <a:off x="7040880" y="5477256"/>
            <a:ext cx="456285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means similar meaning in different words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Exact Match and Accuracy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Match = 1 if output equals reference, otherwise 0          Accuracy = correct outputs / total outputs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Normalises case and spacing, then compares the strings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Scores each example as pass or fail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Averages the pass rate across the whole set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Simple, fast and fully transparent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Ideal for labels, short answers and tags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Easy to explain to business stakeholders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Fails on any paraphrase, even a perfect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Near zero for open-ended marketing copy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Gives no partial credit for close answers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 for classification-style checks, not for free-form copy.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BLEU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 = BP x exp( sum over n = 1 to 4 of w_n x log p_n )          p_n = n-gram precision, BP = brevity penalty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Counts 1 to 4 word sequences shared with the reference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Divides by the n-grams in the output to get precision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Applies a brevity penalty to outputs that are too short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 metric from machine translation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Cheap to compute on large test sets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Good for tracking change between prompt versions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Punishes valid paraphrase and synonyms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Ignores meaning, facts and tone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Unstable on single short sentences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Treat BLEU as a wording-similarity signal, never as a quality verdict.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ROUGE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ROUGE-N recall = overlapping n-grams / n-grams in reference          ROUGE-L uses the longest common subsequence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ROUGE-1 and ROUGE-2 count shared words and word pairs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ROUGE-L finds the longest in-order match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Reports precision, recall and F1 for each variant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Recall focus shows how much reference content is covered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Common for summaries and long-form 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ROUGE-L tolerates gaps between matched words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Still surface matching; synonyms score zero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Long outputs can score high by sheer volume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Cannot detect contradictions or invented claims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ROUGE with length in mind: longer copy raises recall without adding quality.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METEOR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 = F-mean x (1 - penalty)          F-mean weights recall above precision; the penalty rises with fragmented matches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Aligns words by exact form, stem and synonym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Combines precision and recall, favouring recall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Penalises matches scattered in the wrong order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Gives credit for stems and synonyms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Rewards sensible word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Often tracks human judgement better than BLEU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Depends on lexical resources such as WordNet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Slower than BLEU and ROUGE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Still blind to factual correctness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softer overlap metric: useful when wording varies but meaning is close.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BERTScore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 F1 = harmonic mean of precision and recall          Each token is matched to its most similar token by cosine similarity of embeddings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Embeds every token of output and reference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Matches each token to its closest counterpart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Averages the similarities into precision, recall and F1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Captures meaning, not just shared words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Handles paraphrase and reordering well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 for comparing wordings of the same idea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Scores cluster in a narrow high band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Depends on the embedding model chosen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Verifies similarity to the reference, not facts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Best traditional metric for paraphrase, but pair it with a factual check.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Worked example: three outputs, one reference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Reference 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Our new EcoBottle keeps drinks cold for 24 hours. Order today and save 15 percent.</a:t>
            </a:r>
            <a:endParaRPr lang="en-US" sz="1600" dirty="0"/>
          </a:p>
        </p:txBody>
      </p:sp>
      <p:sp>
        <p:nvSpPr>
          <p:cNvPr id="7" name="Header Output"/>
          <p:cNvSpPr/>
          <p:nvPr/>
        </p:nvSpPr>
        <p:spPr>
          <a:xfrm>
            <a:off x="548640" y="2651760"/>
            <a:ext cx="151790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Output</a:t>
            </a:r>
            <a:endParaRPr lang="en-US" sz="1400" dirty="0"/>
          </a:p>
        </p:txBody>
      </p:sp>
      <p:sp>
        <p:nvSpPr>
          <p:cNvPr id="8" name="Header Text"/>
          <p:cNvSpPr/>
          <p:nvPr/>
        </p:nvSpPr>
        <p:spPr>
          <a:xfrm>
            <a:off x="2103120" y="2651760"/>
            <a:ext cx="453542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Text</a:t>
            </a:r>
            <a:endParaRPr lang="en-US" sz="1400" dirty="0"/>
          </a:p>
        </p:txBody>
      </p:sp>
      <p:sp>
        <p:nvSpPr>
          <p:cNvPr id="9" name="Header BLEU"/>
          <p:cNvSpPr/>
          <p:nvPr/>
        </p:nvSpPr>
        <p:spPr>
          <a:xfrm>
            <a:off x="6675120" y="2651760"/>
            <a:ext cx="87782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BLEU</a:t>
            </a:r>
            <a:endParaRPr lang="en-US" sz="1400" dirty="0"/>
          </a:p>
        </p:txBody>
      </p:sp>
      <p:sp>
        <p:nvSpPr>
          <p:cNvPr id="10" name="Header ROUGE"/>
          <p:cNvSpPr/>
          <p:nvPr/>
        </p:nvSpPr>
        <p:spPr>
          <a:xfrm>
            <a:off x="7589520" y="2651760"/>
            <a:ext cx="96926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ROUGE</a:t>
            </a:r>
            <a:endParaRPr lang="en-US" sz="1400" dirty="0"/>
          </a:p>
        </p:txBody>
      </p:sp>
      <p:sp>
        <p:nvSpPr>
          <p:cNvPr id="11" name="Header BERTScore"/>
          <p:cNvSpPr/>
          <p:nvPr/>
        </p:nvSpPr>
        <p:spPr>
          <a:xfrm>
            <a:off x="8595360" y="2651760"/>
            <a:ext cx="133502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BERTScore</a:t>
            </a:r>
            <a:endParaRPr lang="en-US" sz="1400" dirty="0"/>
          </a:p>
        </p:txBody>
      </p:sp>
      <p:sp>
        <p:nvSpPr>
          <p:cNvPr id="12" name="Header Verdict"/>
          <p:cNvSpPr/>
          <p:nvPr/>
        </p:nvSpPr>
        <p:spPr>
          <a:xfrm>
            <a:off x="9966960" y="2651760"/>
            <a:ext cx="163677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Verdict</a:t>
            </a:r>
            <a:endParaRPr lang="en-US" sz="1400" dirty="0"/>
          </a:p>
        </p:txBody>
      </p:sp>
      <p:sp>
        <p:nvSpPr>
          <p:cNvPr id="13" name="Cell 0-0"/>
          <p:cNvSpPr/>
          <p:nvPr/>
        </p:nvSpPr>
        <p:spPr>
          <a:xfrm>
            <a:off x="548640" y="3145536"/>
            <a:ext cx="151790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A: Paraphrase</a:t>
            </a:r>
            <a:endParaRPr lang="en-US" sz="1400" dirty="0"/>
          </a:p>
        </p:txBody>
      </p:sp>
      <p:sp>
        <p:nvSpPr>
          <p:cNvPr id="14" name="Cell 0-1"/>
          <p:cNvSpPr/>
          <p:nvPr/>
        </p:nvSpPr>
        <p:spPr>
          <a:xfrm>
            <a:off x="2103120" y="3145536"/>
            <a:ext cx="45354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Stay chilled all day with EcoBottle, cold for a full 24 hours. Get 15 percent off when you order today.</a:t>
            </a:r>
            <a:endParaRPr lang="en-US" sz="1400" dirty="0"/>
          </a:p>
        </p:txBody>
      </p:sp>
      <p:sp>
        <p:nvSpPr>
          <p:cNvPr id="15" name="Cell 0-2"/>
          <p:cNvSpPr/>
          <p:nvPr/>
        </p:nvSpPr>
        <p:spPr>
          <a:xfrm>
            <a:off x="6675120" y="3145536"/>
            <a:ext cx="8778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</a:t>
            </a:r>
            <a:endParaRPr lang="en-US" sz="1400" dirty="0"/>
          </a:p>
        </p:txBody>
      </p:sp>
      <p:sp>
        <p:nvSpPr>
          <p:cNvPr id="16" name="Cell 0-3"/>
          <p:cNvSpPr/>
          <p:nvPr/>
        </p:nvSpPr>
        <p:spPr>
          <a:xfrm>
            <a:off x="7589520" y="3145536"/>
            <a:ext cx="96926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Medium</a:t>
            </a:r>
            <a:endParaRPr lang="en-US" sz="1400" dirty="0"/>
          </a:p>
        </p:txBody>
      </p:sp>
      <p:sp>
        <p:nvSpPr>
          <p:cNvPr id="17" name="Cell 0-4"/>
          <p:cNvSpPr/>
          <p:nvPr/>
        </p:nvSpPr>
        <p:spPr>
          <a:xfrm>
            <a:off x="8595360" y="3145536"/>
            <a:ext cx="13350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</a:t>
            </a:r>
            <a:endParaRPr lang="en-US" sz="1400" dirty="0"/>
          </a:p>
        </p:txBody>
      </p:sp>
      <p:sp>
        <p:nvSpPr>
          <p:cNvPr id="18" name="Cell 0-5"/>
          <p:cNvSpPr/>
          <p:nvPr/>
        </p:nvSpPr>
        <p:spPr>
          <a:xfrm>
            <a:off x="9966960" y="3145536"/>
            <a:ext cx="1636776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Good copy</a:t>
            </a:r>
            <a:endParaRPr lang="en-US" sz="1400" dirty="0"/>
          </a:p>
        </p:txBody>
      </p:sp>
      <p:sp>
        <p:nvSpPr>
          <p:cNvPr id="19" name="Cell 1-0"/>
          <p:cNvSpPr/>
          <p:nvPr/>
        </p:nvSpPr>
        <p:spPr>
          <a:xfrm>
            <a:off x="548640" y="4050792"/>
            <a:ext cx="151790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B: Wrong claim</a:t>
            </a:r>
            <a:endParaRPr lang="en-US" sz="1400" dirty="0"/>
          </a:p>
        </p:txBody>
      </p:sp>
      <p:sp>
        <p:nvSpPr>
          <p:cNvPr id="20" name="Cell 1-1"/>
          <p:cNvSpPr/>
          <p:nvPr/>
        </p:nvSpPr>
        <p:spPr>
          <a:xfrm>
            <a:off x="2103120" y="4050792"/>
            <a:ext cx="45354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Our new EcoBottle keeps drinks cold for 48 hours. Order today and save 15 percent.</a:t>
            </a:r>
            <a:endParaRPr lang="en-US" sz="1400" dirty="0"/>
          </a:p>
        </p:txBody>
      </p:sp>
      <p:sp>
        <p:nvSpPr>
          <p:cNvPr id="21" name="Cell 1-2"/>
          <p:cNvSpPr/>
          <p:nvPr/>
        </p:nvSpPr>
        <p:spPr>
          <a:xfrm>
            <a:off x="6675120" y="4050792"/>
            <a:ext cx="8778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</a:t>
            </a:r>
            <a:endParaRPr lang="en-US" sz="1400" dirty="0"/>
          </a:p>
        </p:txBody>
      </p:sp>
      <p:sp>
        <p:nvSpPr>
          <p:cNvPr id="22" name="Cell 1-3"/>
          <p:cNvSpPr/>
          <p:nvPr/>
        </p:nvSpPr>
        <p:spPr>
          <a:xfrm>
            <a:off x="7589520" y="4050792"/>
            <a:ext cx="96926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</a:t>
            </a:r>
            <a:endParaRPr lang="en-US" sz="1400" dirty="0"/>
          </a:p>
        </p:txBody>
      </p:sp>
      <p:sp>
        <p:nvSpPr>
          <p:cNvPr id="23" name="Cell 1-4"/>
          <p:cNvSpPr/>
          <p:nvPr/>
        </p:nvSpPr>
        <p:spPr>
          <a:xfrm>
            <a:off x="8595360" y="4050792"/>
            <a:ext cx="13350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</a:t>
            </a:r>
            <a:endParaRPr lang="en-US" sz="1400" dirty="0"/>
          </a:p>
        </p:txBody>
      </p:sp>
      <p:sp>
        <p:nvSpPr>
          <p:cNvPr id="24" name="Cell 1-5"/>
          <p:cNvSpPr/>
          <p:nvPr/>
        </p:nvSpPr>
        <p:spPr>
          <a:xfrm>
            <a:off x="9966960" y="4050792"/>
            <a:ext cx="1636776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Factual error</a:t>
            </a:r>
            <a:endParaRPr lang="en-US" sz="1400" dirty="0"/>
          </a:p>
        </p:txBody>
      </p:sp>
      <p:sp>
        <p:nvSpPr>
          <p:cNvPr id="25" name="Cell 2-0"/>
          <p:cNvSpPr/>
          <p:nvPr/>
        </p:nvSpPr>
        <p:spPr>
          <a:xfrm>
            <a:off x="548640" y="4956048"/>
            <a:ext cx="151790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C: Off brief</a:t>
            </a:r>
            <a:endParaRPr lang="en-US" sz="1400" dirty="0"/>
          </a:p>
        </p:txBody>
      </p:sp>
      <p:sp>
        <p:nvSpPr>
          <p:cNvPr id="26" name="Cell 2-1"/>
          <p:cNvSpPr/>
          <p:nvPr/>
        </p:nvSpPr>
        <p:spPr>
          <a:xfrm>
            <a:off x="2103120" y="4956048"/>
            <a:ext cx="45354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Great bottles at great prices. Visit our store.</a:t>
            </a:r>
            <a:endParaRPr lang="en-US" sz="1400" dirty="0"/>
          </a:p>
        </p:txBody>
      </p:sp>
      <p:sp>
        <p:nvSpPr>
          <p:cNvPr id="27" name="Cell 2-2"/>
          <p:cNvSpPr/>
          <p:nvPr/>
        </p:nvSpPr>
        <p:spPr>
          <a:xfrm>
            <a:off x="6675120" y="4956048"/>
            <a:ext cx="8778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</a:t>
            </a:r>
            <a:endParaRPr lang="en-US" sz="1400" dirty="0"/>
          </a:p>
        </p:txBody>
      </p:sp>
      <p:sp>
        <p:nvSpPr>
          <p:cNvPr id="28" name="Cell 2-3"/>
          <p:cNvSpPr/>
          <p:nvPr/>
        </p:nvSpPr>
        <p:spPr>
          <a:xfrm>
            <a:off x="7589520" y="4956048"/>
            <a:ext cx="96926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</a:t>
            </a:r>
            <a:endParaRPr lang="en-US" sz="1400" dirty="0"/>
          </a:p>
        </p:txBody>
      </p:sp>
      <p:sp>
        <p:nvSpPr>
          <p:cNvPr id="29" name="Cell 2-4"/>
          <p:cNvSpPr/>
          <p:nvPr/>
        </p:nvSpPr>
        <p:spPr>
          <a:xfrm>
            <a:off x="8595360" y="4956048"/>
            <a:ext cx="1335024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</a:t>
            </a:r>
            <a:endParaRPr lang="en-US" sz="1400" dirty="0"/>
          </a:p>
        </p:txBody>
      </p:sp>
      <p:sp>
        <p:nvSpPr>
          <p:cNvPr id="30" name="Cell 2-5"/>
          <p:cNvSpPr/>
          <p:nvPr/>
        </p:nvSpPr>
        <p:spPr>
          <a:xfrm>
            <a:off x="9966960" y="4956048"/>
            <a:ext cx="1636776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 brief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Qualitative reading for teaching. Run the notebook for the actual scores.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When metrics disagree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3566160" cy="36118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6" name="Number A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Same meaning, new wording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SIGNAL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BLEU low, BERTScore high</a:t>
            </a:r>
            <a:endParaRPr lang="en-US" sz="14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READING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copy is acceptable. BLEU penalises paraphrase, so it understates quality.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15968" y="1691640"/>
            <a:ext cx="3566160" cy="36118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0" name="Number B"/>
          <p:cNvSpPr/>
          <p:nvPr/>
        </p:nvSpPr>
        <p:spPr>
          <a:xfrm>
            <a:off x="4544568" y="18745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184648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Close wording, wrong claim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44568" y="260604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SIGNAL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BLEU and ROUGE high, one product fact is wrong</a:t>
            </a:r>
            <a:endParaRPr lang="en-US" sz="14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READING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Overlap hides factual errors. Add fact checks or an LLM judge.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83296" y="1691640"/>
            <a:ext cx="3566160" cy="36118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4" name="Number C"/>
          <p:cNvSpPr/>
          <p:nvPr/>
        </p:nvSpPr>
        <p:spPr>
          <a:xfrm>
            <a:off x="8311896" y="1874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51976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Right facts, off-brand voice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260604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SIGNAL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Moderate scores on every metric</a:t>
            </a:r>
            <a:endParaRPr lang="en-US" sz="14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READING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overlap metric captures voice. Add a rubric or human review.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4864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Read several metrics together and always inspect real outputs.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Limits of traditional metrics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406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Limitations for open-ended text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Tied to one reference when many answers are valid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Reward surface wording rather than meaning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Blind to factual errors and brand voice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Scores carry no business meaning on their own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99632" y="1691640"/>
            <a:ext cx="5440680" cy="3291840"/>
          </a:xfrm>
          <a:prstGeom prst="roundRect">
            <a:avLst>
              <a:gd name="adj" fmla="val 222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73952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Using results to improve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73952" y="25146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Clarify prompt instructions and add examples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Constrain length, format and tone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Tune temperature and top-p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Re-run on the same reference set and compare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Keep the reference set as a regression test and re-score it after every change.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2  |  EVALUATING A NON-RAG LLM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Levers for improving the application</a:t>
            </a:r>
            <a:endParaRPr lang="en-US" sz="3400" dirty="0"/>
          </a:p>
        </p:txBody>
      </p:sp>
      <p:sp>
        <p:nvSpPr>
          <p:cNvPr id="5" name="Header Lever"/>
          <p:cNvSpPr/>
          <p:nvPr/>
        </p:nvSpPr>
        <p:spPr>
          <a:xfrm>
            <a:off x="548640" y="1691640"/>
            <a:ext cx="206654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Lever</a:t>
            </a:r>
            <a:endParaRPr lang="en-US" sz="1400" dirty="0"/>
          </a:p>
        </p:txBody>
      </p:sp>
      <p:sp>
        <p:nvSpPr>
          <p:cNvPr id="6" name="Header What it changes"/>
          <p:cNvSpPr/>
          <p:nvPr/>
        </p:nvSpPr>
        <p:spPr>
          <a:xfrm>
            <a:off x="2651760" y="1691640"/>
            <a:ext cx="298094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it changes</a:t>
            </a:r>
            <a:endParaRPr lang="en-US" sz="1400" dirty="0"/>
          </a:p>
        </p:txBody>
      </p:sp>
      <p:sp>
        <p:nvSpPr>
          <p:cNvPr id="7" name="Header Typical effect on scores"/>
          <p:cNvSpPr/>
          <p:nvPr/>
        </p:nvSpPr>
        <p:spPr>
          <a:xfrm>
            <a:off x="5669280" y="1691640"/>
            <a:ext cx="316382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Typical effect on scores</a:t>
            </a:r>
            <a:endParaRPr lang="en-US" sz="1400" dirty="0"/>
          </a:p>
        </p:txBody>
      </p:sp>
      <p:sp>
        <p:nvSpPr>
          <p:cNvPr id="8" name="Header Use when"/>
          <p:cNvSpPr/>
          <p:nvPr/>
        </p:nvSpPr>
        <p:spPr>
          <a:xfrm>
            <a:off x="8869680" y="1691640"/>
            <a:ext cx="273405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 when</a:t>
            </a:r>
            <a:endParaRPr lang="en-US" sz="1400" dirty="0"/>
          </a:p>
        </p:txBody>
      </p:sp>
      <p:sp>
        <p:nvSpPr>
          <p:cNvPr id="9" name="Cell 0-0"/>
          <p:cNvSpPr/>
          <p:nvPr/>
        </p:nvSpPr>
        <p:spPr>
          <a:xfrm>
            <a:off x="548640" y="2185416"/>
            <a:ext cx="20665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Prompt instructions</a:t>
            </a:r>
            <a:endParaRPr lang="en-US" sz="1400" dirty="0"/>
          </a:p>
        </p:txBody>
      </p:sp>
      <p:sp>
        <p:nvSpPr>
          <p:cNvPr id="10" name="Cell 0-1"/>
          <p:cNvSpPr/>
          <p:nvPr/>
        </p:nvSpPr>
        <p:spPr>
          <a:xfrm>
            <a:off x="2651760" y="2185416"/>
            <a:ext cx="29809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Task, tone, length and format rules</a:t>
            </a:r>
            <a:endParaRPr lang="en-US" sz="1400" dirty="0"/>
          </a:p>
        </p:txBody>
      </p:sp>
      <p:sp>
        <p:nvSpPr>
          <p:cNvPr id="11" name="Cell 0-2"/>
          <p:cNvSpPr/>
          <p:nvPr/>
        </p:nvSpPr>
        <p:spPr>
          <a:xfrm>
            <a:off x="5669280" y="2185416"/>
            <a:ext cx="316382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Raises relevance and reduces drift</a:t>
            </a:r>
            <a:endParaRPr lang="en-US" sz="1400" dirty="0"/>
          </a:p>
        </p:txBody>
      </p:sp>
      <p:sp>
        <p:nvSpPr>
          <p:cNvPr id="12" name="Cell 0-3"/>
          <p:cNvSpPr/>
          <p:nvPr/>
        </p:nvSpPr>
        <p:spPr>
          <a:xfrm>
            <a:off x="8869680" y="2185416"/>
            <a:ext cx="273405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Outputs miss the brief</a:t>
            </a:r>
            <a:endParaRPr lang="en-US" sz="1400" dirty="0"/>
          </a:p>
        </p:txBody>
      </p:sp>
      <p:sp>
        <p:nvSpPr>
          <p:cNvPr id="13" name="Cell 1-0"/>
          <p:cNvSpPr/>
          <p:nvPr/>
        </p:nvSpPr>
        <p:spPr>
          <a:xfrm>
            <a:off x="548640" y="2935224"/>
            <a:ext cx="20665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Few-shot examples</a:t>
            </a:r>
            <a:endParaRPr lang="en-US" sz="1400" dirty="0"/>
          </a:p>
        </p:txBody>
      </p:sp>
      <p:sp>
        <p:nvSpPr>
          <p:cNvPr id="14" name="Cell 1-1"/>
          <p:cNvSpPr/>
          <p:nvPr/>
        </p:nvSpPr>
        <p:spPr>
          <a:xfrm>
            <a:off x="2651760" y="2935224"/>
            <a:ext cx="29809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the model approved copy</a:t>
            </a:r>
            <a:endParaRPr lang="en-US" sz="1400" dirty="0"/>
          </a:p>
        </p:txBody>
      </p:sp>
      <p:sp>
        <p:nvSpPr>
          <p:cNvPr id="15" name="Cell 1-2"/>
          <p:cNvSpPr/>
          <p:nvPr/>
        </p:nvSpPr>
        <p:spPr>
          <a:xfrm>
            <a:off x="5669280" y="2935224"/>
            <a:ext cx="316382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Moves wording toward the reference</a:t>
            </a:r>
            <a:endParaRPr lang="en-US" sz="1400" dirty="0"/>
          </a:p>
        </p:txBody>
      </p:sp>
      <p:sp>
        <p:nvSpPr>
          <p:cNvPr id="16" name="Cell 1-3"/>
          <p:cNvSpPr/>
          <p:nvPr/>
        </p:nvSpPr>
        <p:spPr>
          <a:xfrm>
            <a:off x="8869680" y="2935224"/>
            <a:ext cx="273405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Voice or format is inconsistent</a:t>
            </a:r>
            <a:endParaRPr lang="en-US" sz="1400" dirty="0"/>
          </a:p>
        </p:txBody>
      </p:sp>
      <p:sp>
        <p:nvSpPr>
          <p:cNvPr id="17" name="Cell 2-0"/>
          <p:cNvSpPr/>
          <p:nvPr/>
        </p:nvSpPr>
        <p:spPr>
          <a:xfrm>
            <a:off x="548640" y="3685032"/>
            <a:ext cx="20665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Temperature</a:t>
            </a:r>
            <a:endParaRPr lang="en-US" sz="1400" dirty="0"/>
          </a:p>
        </p:txBody>
      </p:sp>
      <p:sp>
        <p:nvSpPr>
          <p:cNvPr id="18" name="Cell 2-1"/>
          <p:cNvSpPr/>
          <p:nvPr/>
        </p:nvSpPr>
        <p:spPr>
          <a:xfrm>
            <a:off x="2651760" y="3685032"/>
            <a:ext cx="29809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Randomness of word choice</a:t>
            </a:r>
            <a:endParaRPr lang="en-US" sz="1400" dirty="0"/>
          </a:p>
        </p:txBody>
      </p:sp>
      <p:sp>
        <p:nvSpPr>
          <p:cNvPr id="19" name="Cell 2-2"/>
          <p:cNvSpPr/>
          <p:nvPr/>
        </p:nvSpPr>
        <p:spPr>
          <a:xfrm>
            <a:off x="5669280" y="3685032"/>
            <a:ext cx="316382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gives stable scores; higher varies wording</a:t>
            </a:r>
            <a:endParaRPr lang="en-US" sz="1400" dirty="0"/>
          </a:p>
        </p:txBody>
      </p:sp>
      <p:sp>
        <p:nvSpPr>
          <p:cNvPr id="20" name="Cell 2-3"/>
          <p:cNvSpPr/>
          <p:nvPr/>
        </p:nvSpPr>
        <p:spPr>
          <a:xfrm>
            <a:off x="8869680" y="3685032"/>
            <a:ext cx="273405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 is repetitive or erratic</a:t>
            </a:r>
            <a:endParaRPr lang="en-US" sz="1400" dirty="0"/>
          </a:p>
        </p:txBody>
      </p:sp>
      <p:sp>
        <p:nvSpPr>
          <p:cNvPr id="21" name="Cell 3-0"/>
          <p:cNvSpPr/>
          <p:nvPr/>
        </p:nvSpPr>
        <p:spPr>
          <a:xfrm>
            <a:off x="548640" y="4434840"/>
            <a:ext cx="20665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Top-p</a:t>
            </a:r>
            <a:endParaRPr lang="en-US" sz="1400" dirty="0"/>
          </a:p>
        </p:txBody>
      </p:sp>
      <p:sp>
        <p:nvSpPr>
          <p:cNvPr id="22" name="Cell 3-1"/>
          <p:cNvSpPr/>
          <p:nvPr/>
        </p:nvSpPr>
        <p:spPr>
          <a:xfrm>
            <a:off x="2651760" y="4434840"/>
            <a:ext cx="29809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of likely words allowed</a:t>
            </a:r>
            <a:endParaRPr lang="en-US" sz="1400" dirty="0"/>
          </a:p>
        </p:txBody>
      </p:sp>
      <p:sp>
        <p:nvSpPr>
          <p:cNvPr id="23" name="Cell 3-2"/>
          <p:cNvSpPr/>
          <p:nvPr/>
        </p:nvSpPr>
        <p:spPr>
          <a:xfrm>
            <a:off x="5669280" y="4434840"/>
            <a:ext cx="316382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gives safer, more predictable text</a:t>
            </a:r>
            <a:endParaRPr lang="en-US" sz="1400" dirty="0"/>
          </a:p>
        </p:txBody>
      </p:sp>
      <p:sp>
        <p:nvSpPr>
          <p:cNvPr id="24" name="Cell 3-3"/>
          <p:cNvSpPr/>
          <p:nvPr/>
        </p:nvSpPr>
        <p:spPr>
          <a:xfrm>
            <a:off x="8869680" y="4434840"/>
            <a:ext cx="273405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Occasional odd phrasing</a:t>
            </a:r>
            <a:endParaRPr lang="en-US" sz="1400" dirty="0"/>
          </a:p>
        </p:txBody>
      </p:sp>
      <p:sp>
        <p:nvSpPr>
          <p:cNvPr id="25" name="Cell 4-0"/>
          <p:cNvSpPr/>
          <p:nvPr/>
        </p:nvSpPr>
        <p:spPr>
          <a:xfrm>
            <a:off x="548640" y="5184648"/>
            <a:ext cx="20665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Max tokens</a:t>
            </a:r>
            <a:endParaRPr lang="en-US" sz="1400" dirty="0"/>
          </a:p>
        </p:txBody>
      </p:sp>
      <p:sp>
        <p:nvSpPr>
          <p:cNvPr id="26" name="Cell 4-1"/>
          <p:cNvSpPr/>
          <p:nvPr/>
        </p:nvSpPr>
        <p:spPr>
          <a:xfrm>
            <a:off x="2651760" y="5184648"/>
            <a:ext cx="298094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Maximum output length</a:t>
            </a:r>
            <a:endParaRPr lang="en-US" sz="1400" dirty="0"/>
          </a:p>
        </p:txBody>
      </p:sp>
      <p:sp>
        <p:nvSpPr>
          <p:cNvPr id="27" name="Cell 4-2"/>
          <p:cNvSpPr/>
          <p:nvPr/>
        </p:nvSpPr>
        <p:spPr>
          <a:xfrm>
            <a:off x="5669280" y="5184648"/>
            <a:ext cx="316382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Shapes ROUGE recall and the BLEU penalty</a:t>
            </a:r>
            <a:endParaRPr lang="en-US" sz="1400" dirty="0"/>
          </a:p>
        </p:txBody>
      </p:sp>
      <p:sp>
        <p:nvSpPr>
          <p:cNvPr id="28" name="Cell 4-3"/>
          <p:cNvSpPr/>
          <p:nvPr/>
        </p:nvSpPr>
        <p:spPr>
          <a:xfrm>
            <a:off x="8869680" y="5184648"/>
            <a:ext cx="273405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 is cut off or too long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3  |  BUILDING A RAG PIPELINE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RAG pipeline architecture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INDEXING  (ONCE)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QUERY TIME  (EVERY QUESTION)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548640" y="1920240"/>
            <a:ext cx="32918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Number 1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Document collection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43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Load and split business documents into chunks</a:t>
            </a:r>
            <a:endParaRPr lang="en-US" sz="1500" dirty="0"/>
          </a:p>
        </p:txBody>
      </p:sp>
      <p:sp>
        <p:nvSpPr>
          <p:cNvPr id="11" name="Arrow"/>
          <p:cNvSpPr/>
          <p:nvPr/>
        </p:nvSpPr>
        <p:spPr>
          <a:xfrm>
            <a:off x="3886200" y="2578608"/>
            <a:ext cx="5029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2" name="Card"/>
          <p:cNvSpPr/>
          <p:nvPr/>
        </p:nvSpPr>
        <p:spPr>
          <a:xfrm>
            <a:off x="4434840" y="1920240"/>
            <a:ext cx="32918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2"/>
          <p:cNvSpPr/>
          <p:nvPr/>
        </p:nvSpPr>
        <p:spPr>
          <a:xfrm>
            <a:off x="461772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Embedding generation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743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Convert each chunk into a vector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7772400" y="2578608"/>
            <a:ext cx="5029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7" name="Card"/>
          <p:cNvSpPr/>
          <p:nvPr/>
        </p:nvSpPr>
        <p:spPr>
          <a:xfrm>
            <a:off x="8321040" y="1920240"/>
            <a:ext cx="32918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8" name="Number 3"/>
          <p:cNvSpPr/>
          <p:nvPr/>
        </p:nvSpPr>
        <p:spPr>
          <a:xfrm>
            <a:off x="850392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09828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Vector storage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2743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Persist vectors and metadata in ChromaDB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548640" y="3977640"/>
            <a:ext cx="329184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2" name="Number 4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160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Retrieval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800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the chunks closest to the question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3886200" y="4636008"/>
            <a:ext cx="5029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6" name="Card"/>
          <p:cNvSpPr/>
          <p:nvPr/>
        </p:nvSpPr>
        <p:spPr>
          <a:xfrm>
            <a:off x="4434840" y="3977640"/>
            <a:ext cx="329184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7" name="Number 5"/>
          <p:cNvSpPr/>
          <p:nvPr/>
        </p:nvSpPr>
        <p:spPr>
          <a:xfrm>
            <a:off x="461772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4160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Context augmentation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663440" y="4800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Insert retrieved chunks into the prompt</a:t>
            </a:r>
            <a:endParaRPr lang="en-US" sz="1500" dirty="0"/>
          </a:p>
        </p:txBody>
      </p:sp>
      <p:sp>
        <p:nvSpPr>
          <p:cNvPr id="30" name="Arrow"/>
          <p:cNvSpPr/>
          <p:nvPr/>
        </p:nvSpPr>
        <p:spPr>
          <a:xfrm>
            <a:off x="7772400" y="4636008"/>
            <a:ext cx="5029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1" name="Card"/>
          <p:cNvSpPr/>
          <p:nvPr/>
        </p:nvSpPr>
        <p:spPr>
          <a:xfrm>
            <a:off x="8321040" y="3977640"/>
            <a:ext cx="329184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2" name="Number 6"/>
          <p:cNvSpPr/>
          <p:nvPr/>
        </p:nvSpPr>
        <p:spPr>
          <a:xfrm>
            <a:off x="850392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9098280" y="4160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Response generation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8549640" y="4800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LLM answers from the supplied context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3  |  BUILDING A RAG PIPELINE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Tools behind each stage</a:t>
            </a:r>
            <a:endParaRPr lang="en-US" sz="3400" dirty="0"/>
          </a:p>
        </p:txBody>
      </p:sp>
      <p:sp>
        <p:nvSpPr>
          <p:cNvPr id="5" name="Header Stage"/>
          <p:cNvSpPr/>
          <p:nvPr/>
        </p:nvSpPr>
        <p:spPr>
          <a:xfrm>
            <a:off x="548640" y="1691640"/>
            <a:ext cx="234086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Stage</a:t>
            </a:r>
            <a:endParaRPr lang="en-US" sz="1400" dirty="0"/>
          </a:p>
        </p:txBody>
      </p:sp>
      <p:sp>
        <p:nvSpPr>
          <p:cNvPr id="6" name="Header Tool"/>
          <p:cNvSpPr/>
          <p:nvPr/>
        </p:nvSpPr>
        <p:spPr>
          <a:xfrm>
            <a:off x="2926080" y="1691640"/>
            <a:ext cx="426110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Tool</a:t>
            </a:r>
            <a:endParaRPr lang="en-US" sz="1400" dirty="0"/>
          </a:p>
        </p:txBody>
      </p:sp>
      <p:sp>
        <p:nvSpPr>
          <p:cNvPr id="7" name="Header Purpose"/>
          <p:cNvSpPr/>
          <p:nvPr/>
        </p:nvSpPr>
        <p:spPr>
          <a:xfrm>
            <a:off x="7223760" y="1691640"/>
            <a:ext cx="437997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Purpose</a:t>
            </a:r>
            <a:endParaRPr lang="en-US" sz="1400" dirty="0"/>
          </a:p>
        </p:txBody>
      </p:sp>
      <p:sp>
        <p:nvSpPr>
          <p:cNvPr id="8" name="Cell 0-0"/>
          <p:cNvSpPr/>
          <p:nvPr/>
        </p:nvSpPr>
        <p:spPr>
          <a:xfrm>
            <a:off x="548640" y="2185416"/>
            <a:ext cx="23408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Loading and chunking</a:t>
            </a:r>
            <a:endParaRPr lang="en-US" sz="1400" dirty="0"/>
          </a:p>
        </p:txBody>
      </p:sp>
      <p:sp>
        <p:nvSpPr>
          <p:cNvPr id="9" name="Cell 0-1"/>
          <p:cNvSpPr/>
          <p:nvPr/>
        </p:nvSpPr>
        <p:spPr>
          <a:xfrm>
            <a:off x="2926080" y="2185416"/>
            <a:ext cx="426110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LangChain document loaders and text splitters</a:t>
            </a:r>
            <a:endParaRPr lang="en-US" sz="1400" dirty="0"/>
          </a:p>
        </p:txBody>
      </p:sp>
      <p:sp>
        <p:nvSpPr>
          <p:cNvPr id="10" name="Cell 0-2"/>
          <p:cNvSpPr/>
          <p:nvPr/>
        </p:nvSpPr>
        <p:spPr>
          <a:xfrm>
            <a:off x="7223760" y="2185416"/>
            <a:ext cx="43799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Prepare passages of a sensible size</a:t>
            </a:r>
            <a:endParaRPr lang="en-US" sz="1400" dirty="0"/>
          </a:p>
        </p:txBody>
      </p:sp>
      <p:sp>
        <p:nvSpPr>
          <p:cNvPr id="11" name="Cell 1-0"/>
          <p:cNvSpPr/>
          <p:nvPr/>
        </p:nvSpPr>
        <p:spPr>
          <a:xfrm>
            <a:off x="548640" y="2843784"/>
            <a:ext cx="23408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Embeddings</a:t>
            </a:r>
            <a:endParaRPr lang="en-US" sz="1400" dirty="0"/>
          </a:p>
        </p:txBody>
      </p:sp>
      <p:sp>
        <p:nvSpPr>
          <p:cNvPr id="12" name="Cell 1-1"/>
          <p:cNvSpPr/>
          <p:nvPr/>
        </p:nvSpPr>
        <p:spPr>
          <a:xfrm>
            <a:off x="2926080" y="2843784"/>
            <a:ext cx="426110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Hugging Face embedding model</a:t>
            </a:r>
            <a:endParaRPr lang="en-US" sz="1400" dirty="0"/>
          </a:p>
        </p:txBody>
      </p:sp>
      <p:sp>
        <p:nvSpPr>
          <p:cNvPr id="13" name="Cell 1-2"/>
          <p:cNvSpPr/>
          <p:nvPr/>
        </p:nvSpPr>
        <p:spPr>
          <a:xfrm>
            <a:off x="7223760" y="2843784"/>
            <a:ext cx="43799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Map text to vectors for semantic search</a:t>
            </a:r>
            <a:endParaRPr lang="en-US" sz="1400" dirty="0"/>
          </a:p>
        </p:txBody>
      </p:sp>
      <p:sp>
        <p:nvSpPr>
          <p:cNvPr id="14" name="Cell 2-0"/>
          <p:cNvSpPr/>
          <p:nvPr/>
        </p:nvSpPr>
        <p:spPr>
          <a:xfrm>
            <a:off x="548640" y="3502152"/>
            <a:ext cx="23408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Vector store</a:t>
            </a:r>
            <a:endParaRPr lang="en-US" sz="1400" dirty="0"/>
          </a:p>
        </p:txBody>
      </p:sp>
      <p:sp>
        <p:nvSpPr>
          <p:cNvPr id="15" name="Cell 2-1"/>
          <p:cNvSpPr/>
          <p:nvPr/>
        </p:nvSpPr>
        <p:spPr>
          <a:xfrm>
            <a:off x="2926080" y="3502152"/>
            <a:ext cx="426110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ChromaDB collection</a:t>
            </a:r>
            <a:endParaRPr lang="en-US" sz="1400" dirty="0"/>
          </a:p>
        </p:txBody>
      </p:sp>
      <p:sp>
        <p:nvSpPr>
          <p:cNvPr id="16" name="Cell 2-2"/>
          <p:cNvSpPr/>
          <p:nvPr/>
        </p:nvSpPr>
        <p:spPr>
          <a:xfrm>
            <a:off x="7223760" y="3502152"/>
            <a:ext cx="43799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Store, index and query vectors</a:t>
            </a:r>
            <a:endParaRPr lang="en-US" sz="1400" dirty="0"/>
          </a:p>
        </p:txBody>
      </p:sp>
      <p:sp>
        <p:nvSpPr>
          <p:cNvPr id="17" name="Cell 3-0"/>
          <p:cNvSpPr/>
          <p:nvPr/>
        </p:nvSpPr>
        <p:spPr>
          <a:xfrm>
            <a:off x="548640" y="4160520"/>
            <a:ext cx="23408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Retriever</a:t>
            </a:r>
            <a:endParaRPr lang="en-US" sz="1400" dirty="0"/>
          </a:p>
        </p:txBody>
      </p:sp>
      <p:sp>
        <p:nvSpPr>
          <p:cNvPr id="18" name="Cell 3-1"/>
          <p:cNvSpPr/>
          <p:nvPr/>
        </p:nvSpPr>
        <p:spPr>
          <a:xfrm>
            <a:off x="2926080" y="4160520"/>
            <a:ext cx="426110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LangChain retriever over Chroma</a:t>
            </a:r>
            <a:endParaRPr lang="en-US" sz="1400" dirty="0"/>
          </a:p>
        </p:txBody>
      </p:sp>
      <p:sp>
        <p:nvSpPr>
          <p:cNvPr id="19" name="Cell 3-2"/>
          <p:cNvSpPr/>
          <p:nvPr/>
        </p:nvSpPr>
        <p:spPr>
          <a:xfrm>
            <a:off x="7223760" y="4160520"/>
            <a:ext cx="43799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Return the top-k relevant chunks</a:t>
            </a:r>
            <a:endParaRPr lang="en-US" sz="1400" dirty="0"/>
          </a:p>
        </p:txBody>
      </p:sp>
      <p:sp>
        <p:nvSpPr>
          <p:cNvPr id="20" name="Cell 4-0"/>
          <p:cNvSpPr/>
          <p:nvPr/>
        </p:nvSpPr>
        <p:spPr>
          <a:xfrm>
            <a:off x="548640" y="4818888"/>
            <a:ext cx="23408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Prompt and chain</a:t>
            </a:r>
            <a:endParaRPr lang="en-US" sz="1400" dirty="0"/>
          </a:p>
        </p:txBody>
      </p:sp>
      <p:sp>
        <p:nvSpPr>
          <p:cNvPr id="21" name="Cell 4-1"/>
          <p:cNvSpPr/>
          <p:nvPr/>
        </p:nvSpPr>
        <p:spPr>
          <a:xfrm>
            <a:off x="2926080" y="4818888"/>
            <a:ext cx="426110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LangChain prompt template and chain</a:t>
            </a:r>
            <a:endParaRPr lang="en-US" sz="1400" dirty="0"/>
          </a:p>
        </p:txBody>
      </p:sp>
      <p:sp>
        <p:nvSpPr>
          <p:cNvPr id="22" name="Cell 4-2"/>
          <p:cNvSpPr/>
          <p:nvPr/>
        </p:nvSpPr>
        <p:spPr>
          <a:xfrm>
            <a:off x="7223760" y="4818888"/>
            <a:ext cx="43799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 the question with the context</a:t>
            </a:r>
            <a:endParaRPr lang="en-US" sz="1400" dirty="0"/>
          </a:p>
        </p:txBody>
      </p:sp>
      <p:sp>
        <p:nvSpPr>
          <p:cNvPr id="23" name="Cell 5-0"/>
          <p:cNvSpPr/>
          <p:nvPr/>
        </p:nvSpPr>
        <p:spPr>
          <a:xfrm>
            <a:off x="548640" y="5477256"/>
            <a:ext cx="234086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Generator</a:t>
            </a:r>
            <a:endParaRPr lang="en-US" sz="1400" dirty="0"/>
          </a:p>
        </p:txBody>
      </p:sp>
      <p:sp>
        <p:nvSpPr>
          <p:cNvPr id="24" name="Cell 5-1"/>
          <p:cNvSpPr/>
          <p:nvPr/>
        </p:nvSpPr>
        <p:spPr>
          <a:xfrm>
            <a:off x="2926080" y="5477256"/>
            <a:ext cx="426110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LLM served with Ollama</a:t>
            </a:r>
            <a:endParaRPr lang="en-US" sz="1400" dirty="0"/>
          </a:p>
        </p:txBody>
      </p:sp>
      <p:sp>
        <p:nvSpPr>
          <p:cNvPr id="25" name="Cell 5-2"/>
          <p:cNvSpPr/>
          <p:nvPr/>
        </p:nvSpPr>
        <p:spPr>
          <a:xfrm>
            <a:off x="7223760" y="5477256"/>
            <a:ext cx="43799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Produce the grounded answer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3  |  BUILDING A RAG PIPELINE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Indexing and retrieval parameters</a:t>
            </a:r>
            <a:endParaRPr lang="en-US" sz="3400" dirty="0"/>
          </a:p>
        </p:txBody>
      </p:sp>
      <p:sp>
        <p:nvSpPr>
          <p:cNvPr id="5" name="Header Parameter"/>
          <p:cNvSpPr/>
          <p:nvPr/>
        </p:nvSpPr>
        <p:spPr>
          <a:xfrm>
            <a:off x="548640" y="1691640"/>
            <a:ext cx="215798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Parameter</a:t>
            </a:r>
            <a:endParaRPr lang="en-US" sz="1400" dirty="0"/>
          </a:p>
        </p:txBody>
      </p:sp>
      <p:sp>
        <p:nvSpPr>
          <p:cNvPr id="6" name="Header Starting point"/>
          <p:cNvSpPr/>
          <p:nvPr/>
        </p:nvSpPr>
        <p:spPr>
          <a:xfrm>
            <a:off x="2743200" y="1691640"/>
            <a:ext cx="261518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Starting point</a:t>
            </a:r>
            <a:endParaRPr lang="en-US" sz="1400" dirty="0"/>
          </a:p>
        </p:txBody>
      </p:sp>
      <p:sp>
        <p:nvSpPr>
          <p:cNvPr id="7" name="Header Effect of raising it"/>
          <p:cNvSpPr/>
          <p:nvPr/>
        </p:nvSpPr>
        <p:spPr>
          <a:xfrm>
            <a:off x="5394960" y="1691640"/>
            <a:ext cx="325526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Effect of raising it</a:t>
            </a:r>
            <a:endParaRPr lang="en-US" sz="1400" dirty="0"/>
          </a:p>
        </p:txBody>
      </p:sp>
      <p:sp>
        <p:nvSpPr>
          <p:cNvPr id="8" name="Header Risk to watch"/>
          <p:cNvSpPr/>
          <p:nvPr/>
        </p:nvSpPr>
        <p:spPr>
          <a:xfrm>
            <a:off x="8686800" y="1691640"/>
            <a:ext cx="291693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 to watch</a:t>
            </a:r>
            <a:endParaRPr lang="en-US" sz="1400" dirty="0"/>
          </a:p>
        </p:txBody>
      </p:sp>
      <p:sp>
        <p:nvSpPr>
          <p:cNvPr id="9" name="Cell 0-0"/>
          <p:cNvSpPr/>
          <p:nvPr/>
        </p:nvSpPr>
        <p:spPr>
          <a:xfrm>
            <a:off x="548640" y="2185416"/>
            <a:ext cx="21579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Chunk size</a:t>
            </a:r>
            <a:endParaRPr lang="en-US" sz="1400" dirty="0"/>
          </a:p>
        </p:txBody>
      </p:sp>
      <p:sp>
        <p:nvSpPr>
          <p:cNvPr id="10" name="Cell 0-1"/>
          <p:cNvSpPr/>
          <p:nvPr/>
        </p:nvSpPr>
        <p:spPr>
          <a:xfrm>
            <a:off x="2743200" y="2185416"/>
            <a:ext cx="26151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500 to 1000 characters</a:t>
            </a:r>
            <a:endParaRPr lang="en-US" sz="1400" dirty="0"/>
          </a:p>
        </p:txBody>
      </p:sp>
      <p:sp>
        <p:nvSpPr>
          <p:cNvPr id="11" name="Cell 0-2"/>
          <p:cNvSpPr/>
          <p:nvPr/>
        </p:nvSpPr>
        <p:spPr>
          <a:xfrm>
            <a:off x="5394960" y="2185416"/>
            <a:ext cx="325526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context per chunk</a:t>
            </a:r>
            <a:endParaRPr lang="en-US" sz="1400" dirty="0"/>
          </a:p>
        </p:txBody>
      </p:sp>
      <p:sp>
        <p:nvSpPr>
          <p:cNvPr id="12" name="Cell 0-3"/>
          <p:cNvSpPr/>
          <p:nvPr/>
        </p:nvSpPr>
        <p:spPr>
          <a:xfrm>
            <a:off x="8686800" y="2185416"/>
            <a:ext cx="291693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Noisy chunks, diluted matches</a:t>
            </a:r>
            <a:endParaRPr lang="en-US" sz="1400" dirty="0"/>
          </a:p>
        </p:txBody>
      </p:sp>
      <p:sp>
        <p:nvSpPr>
          <p:cNvPr id="13" name="Cell 1-0"/>
          <p:cNvSpPr/>
          <p:nvPr/>
        </p:nvSpPr>
        <p:spPr>
          <a:xfrm>
            <a:off x="548640" y="2935224"/>
            <a:ext cx="21579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Chunk overlap</a:t>
            </a:r>
            <a:endParaRPr lang="en-US" sz="1400" dirty="0"/>
          </a:p>
        </p:txBody>
      </p:sp>
      <p:sp>
        <p:nvSpPr>
          <p:cNvPr id="14" name="Cell 1-1"/>
          <p:cNvSpPr/>
          <p:nvPr/>
        </p:nvSpPr>
        <p:spPr>
          <a:xfrm>
            <a:off x="2743200" y="2935224"/>
            <a:ext cx="26151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to 20 percent of size</a:t>
            </a:r>
            <a:endParaRPr lang="en-US" sz="1400" dirty="0"/>
          </a:p>
        </p:txBody>
      </p:sp>
      <p:sp>
        <p:nvSpPr>
          <p:cNvPr id="15" name="Cell 1-2"/>
          <p:cNvSpPr/>
          <p:nvPr/>
        </p:nvSpPr>
        <p:spPr>
          <a:xfrm>
            <a:off x="5394960" y="2935224"/>
            <a:ext cx="325526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Keeps topics intact across splits</a:t>
            </a:r>
            <a:endParaRPr lang="en-US" sz="1400" dirty="0"/>
          </a:p>
        </p:txBody>
      </p:sp>
      <p:sp>
        <p:nvSpPr>
          <p:cNvPr id="16" name="Cell 1-3"/>
          <p:cNvSpPr/>
          <p:nvPr/>
        </p:nvSpPr>
        <p:spPr>
          <a:xfrm>
            <a:off x="8686800" y="2935224"/>
            <a:ext cx="291693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 content in results</a:t>
            </a:r>
            <a:endParaRPr lang="en-US" sz="1400" dirty="0"/>
          </a:p>
        </p:txBody>
      </p:sp>
      <p:sp>
        <p:nvSpPr>
          <p:cNvPr id="17" name="Cell 2-0"/>
          <p:cNvSpPr/>
          <p:nvPr/>
        </p:nvSpPr>
        <p:spPr>
          <a:xfrm>
            <a:off x="548640" y="3685032"/>
            <a:ext cx="21579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Top-k</a:t>
            </a:r>
            <a:endParaRPr lang="en-US" sz="1400" dirty="0"/>
          </a:p>
        </p:txBody>
      </p:sp>
      <p:sp>
        <p:nvSpPr>
          <p:cNvPr id="18" name="Cell 2-1"/>
          <p:cNvSpPr/>
          <p:nvPr/>
        </p:nvSpPr>
        <p:spPr>
          <a:xfrm>
            <a:off x="2743200" y="3685032"/>
            <a:ext cx="26151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to 5 chunks</a:t>
            </a:r>
            <a:endParaRPr lang="en-US" sz="1400" dirty="0"/>
          </a:p>
        </p:txBody>
      </p:sp>
      <p:sp>
        <p:nvSpPr>
          <p:cNvPr id="19" name="Cell 2-2"/>
          <p:cNvSpPr/>
          <p:nvPr/>
        </p:nvSpPr>
        <p:spPr>
          <a:xfrm>
            <a:off x="5394960" y="3685032"/>
            <a:ext cx="325526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recall of needed facts</a:t>
            </a:r>
            <a:endParaRPr lang="en-US" sz="1400" dirty="0"/>
          </a:p>
        </p:txBody>
      </p:sp>
      <p:sp>
        <p:nvSpPr>
          <p:cNvPr id="20" name="Cell 2-3"/>
          <p:cNvSpPr/>
          <p:nvPr/>
        </p:nvSpPr>
        <p:spPr>
          <a:xfrm>
            <a:off x="8686800" y="3685032"/>
            <a:ext cx="291693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precision, longer prompts</a:t>
            </a:r>
            <a:endParaRPr lang="en-US" sz="1400" dirty="0"/>
          </a:p>
        </p:txBody>
      </p:sp>
      <p:sp>
        <p:nvSpPr>
          <p:cNvPr id="21" name="Cell 3-0"/>
          <p:cNvSpPr/>
          <p:nvPr/>
        </p:nvSpPr>
        <p:spPr>
          <a:xfrm>
            <a:off x="548640" y="4434840"/>
            <a:ext cx="21579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Embedding model</a:t>
            </a:r>
            <a:endParaRPr lang="en-US" sz="1400" dirty="0"/>
          </a:p>
        </p:txBody>
      </p:sp>
      <p:sp>
        <p:nvSpPr>
          <p:cNvPr id="22" name="Cell 3-1"/>
          <p:cNvSpPr/>
          <p:nvPr/>
        </p:nvSpPr>
        <p:spPr>
          <a:xfrm>
            <a:off x="2743200" y="4434840"/>
            <a:ext cx="26151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Compact sentence model</a:t>
            </a:r>
            <a:endParaRPr lang="en-US" sz="1400" dirty="0"/>
          </a:p>
        </p:txBody>
      </p:sp>
      <p:sp>
        <p:nvSpPr>
          <p:cNvPr id="23" name="Cell 3-2"/>
          <p:cNvSpPr/>
          <p:nvPr/>
        </p:nvSpPr>
        <p:spPr>
          <a:xfrm>
            <a:off x="5394960" y="4434840"/>
            <a:ext cx="325526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Better semantic matching</a:t>
            </a:r>
            <a:endParaRPr lang="en-US" sz="1400" dirty="0"/>
          </a:p>
        </p:txBody>
      </p:sp>
      <p:sp>
        <p:nvSpPr>
          <p:cNvPr id="24" name="Cell 3-3"/>
          <p:cNvSpPr/>
          <p:nvPr/>
        </p:nvSpPr>
        <p:spPr>
          <a:xfrm>
            <a:off x="8686800" y="4434840"/>
            <a:ext cx="291693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Slower indexing, more memory</a:t>
            </a:r>
            <a:endParaRPr lang="en-US" sz="1400" dirty="0"/>
          </a:p>
        </p:txBody>
      </p:sp>
      <p:sp>
        <p:nvSpPr>
          <p:cNvPr id="25" name="Cell 4-0"/>
          <p:cNvSpPr/>
          <p:nvPr/>
        </p:nvSpPr>
        <p:spPr>
          <a:xfrm>
            <a:off x="548640" y="5184648"/>
            <a:ext cx="21579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Distance metric</a:t>
            </a:r>
            <a:endParaRPr lang="en-US" sz="1400" dirty="0"/>
          </a:p>
        </p:txBody>
      </p:sp>
      <p:sp>
        <p:nvSpPr>
          <p:cNvPr id="26" name="Cell 4-1"/>
          <p:cNvSpPr/>
          <p:nvPr/>
        </p:nvSpPr>
        <p:spPr>
          <a:xfrm>
            <a:off x="2743200" y="5184648"/>
            <a:ext cx="261518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Cosine similarity</a:t>
            </a:r>
            <a:endParaRPr lang="en-US" sz="1400" dirty="0"/>
          </a:p>
        </p:txBody>
      </p:sp>
      <p:sp>
        <p:nvSpPr>
          <p:cNvPr id="27" name="Cell 4-2"/>
          <p:cNvSpPr/>
          <p:nvPr/>
        </p:nvSpPr>
        <p:spPr>
          <a:xfrm>
            <a:off x="5394960" y="5184648"/>
            <a:ext cx="3255264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for text embeddings</a:t>
            </a:r>
            <a:endParaRPr lang="en-US" sz="1400" dirty="0"/>
          </a:p>
        </p:txBody>
      </p:sp>
      <p:sp>
        <p:nvSpPr>
          <p:cNvPr id="28" name="Cell 4-3"/>
          <p:cNvSpPr/>
          <p:nvPr/>
        </p:nvSpPr>
        <p:spPr>
          <a:xfrm>
            <a:off x="8686800" y="5184648"/>
            <a:ext cx="2916936" cy="7132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Mismatch with model training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Starting points to tune against evaluation scores.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3  |  BUILDING A RAG PIPELINE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Pipeline code walkthrough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40680" cy="3611880"/>
          </a:xfrm>
          <a:prstGeom prst="roundRect">
            <a:avLst>
              <a:gd name="adj" fmla="val 2025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Indexing (run once)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DirectoryLoader("docs/")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loader.load()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 = RecursiveCharacterTextSplitter(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chunk_size=800, chunk_overlap=100)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splitter.split_documents(docs)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= Chroma.from_documents(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chunks, embeddings,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persist_directory="chroma_db")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99632" y="1691640"/>
            <a:ext cx="5440680" cy="3611880"/>
          </a:xfrm>
          <a:prstGeom prst="roundRect">
            <a:avLst>
              <a:gd name="adj" fmla="val 2025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73952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Query time (every question)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73952" y="23317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 = store.as_retriever(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search_kwargs={"k": 4})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OllamaLLM(model="llama3")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retriever.invoke(question)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template.format(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context=docs, question=question)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llm.invoke(prompt)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Simplified for slides. Exact imports and class names vary by LangChain version.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3  |  BUILDING A RAG PIPELINE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Standalone LLM versus RAG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4068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Standalone LLM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Answers from training data only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sound confident while outdated or invented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link to company documents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 to build and operate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99632" y="1691640"/>
            <a:ext cx="5440680" cy="3383280"/>
          </a:xfrm>
          <a:prstGeom prst="roundRect">
            <a:avLst>
              <a:gd name="adj" fmla="val 216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73952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RAG application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73952" y="25146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Answers from retrieved company content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Grounded and traceable to sources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Adds failure points: chunking, retrieval, context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components to evaluate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Retrieval improves factual grounding but adds new places for failure.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3  |  BUILDING A RAG PIPELINE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Successful and unsuccessful retrieval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4068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Successful retrieval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Question matches a section of a policy document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relevant chunks are returned near the top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answer uses the correct content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99632" y="1691640"/>
            <a:ext cx="5440680" cy="3657600"/>
          </a:xfrm>
          <a:prstGeom prst="roundRect">
            <a:avLst>
              <a:gd name="adj" fmla="val 2000"/>
            </a:avLst>
          </a:prstGeom>
          <a:solidFill>
            <a:schemeClr val="accent6">
              <a:alpha val="10000"/>
            </a:schemeClr>
          </a:solidFill>
          <a:ln/>
        </p:spPr>
      </p:sp>
      <p:sp>
        <p:nvSpPr>
          <p:cNvPr id="10" name="Number 2"/>
          <p:cNvSpPr/>
          <p:nvPr/>
        </p:nvSpPr>
        <p:spPr>
          <a:xfrm>
            <a:off x="6473952" y="187452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159752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Unsuccessful retrieval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473952" y="265176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Question wording differs from the document wording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chunk splits a topic in the middle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Relevant chunks rank below irrelevant ones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relevant document exists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the failures that RAG evaluation metrics are built to expose.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3  |  BUILDING A RAG PIPELINE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Enterprise knowledge assistants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HR policy assistant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Answers leave, benefits and conduct questions from policy documents.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374136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/>
          <p:nvPr/>
        </p:nvSpPr>
        <p:spPr>
          <a:xfrm>
            <a:off x="3602736" y="1920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602736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Support knowledge base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602736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Helps agents resolve tickets using manuals and past resolutions.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199632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6428232" y="1920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Compliance Q and A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428232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Finds the right clause in regulations and internal standards.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9025128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8" name="Number 4"/>
          <p:cNvSpPr/>
          <p:nvPr/>
        </p:nvSpPr>
        <p:spPr>
          <a:xfrm>
            <a:off x="9253728" y="1920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253728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Sales enablement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9253728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Surfaces product facts and pricing rules for proposals.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4983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Each use case needs answers that are correct, grounded and traceable to a source.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MANDATORY BREAK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Break</a:t>
            </a:r>
            <a:endParaRPr lang="en-US" sz="3400" dirty="0"/>
          </a:p>
        </p:txBody>
      </p:sp>
      <p:sp>
        <p:nvSpPr>
          <p:cNvPr id="5" name="Break timer"/>
          <p:cNvSpPr/>
          <p:nvPr/>
        </p:nvSpPr>
        <p:spPr>
          <a:xfrm>
            <a:off x="4910328" y="182880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2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minutes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We resume with Section 4: evaluating the RAG application.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RAG needs more than quality scores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Question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2441448" y="1965960"/>
            <a:ext cx="36576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Card"/>
          <p:cNvSpPr/>
          <p:nvPr/>
        </p:nvSpPr>
        <p:spPr>
          <a:xfrm>
            <a:off x="2862072" y="169164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62072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Retriever</a:t>
            </a:r>
            <a:endParaRPr lang="en-US" sz="1600" dirty="0"/>
          </a:p>
        </p:txBody>
      </p:sp>
      <p:sp>
        <p:nvSpPr>
          <p:cNvPr id="10" name="Arrow"/>
          <p:cNvSpPr/>
          <p:nvPr/>
        </p:nvSpPr>
        <p:spPr>
          <a:xfrm>
            <a:off x="4754880" y="1965960"/>
            <a:ext cx="36576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Card"/>
          <p:cNvSpPr/>
          <p:nvPr/>
        </p:nvSpPr>
        <p:spPr>
          <a:xfrm>
            <a:off x="5175504" y="169164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75504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Retrieved context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7068312" y="1965960"/>
            <a:ext cx="36576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Card"/>
          <p:cNvSpPr/>
          <p:nvPr/>
        </p:nvSpPr>
        <p:spPr>
          <a:xfrm>
            <a:off x="7488936" y="169164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88936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Generator</a:t>
            </a:r>
            <a:endParaRPr lang="en-US" sz="1600" dirty="0"/>
          </a:p>
        </p:txBody>
      </p:sp>
      <p:sp>
        <p:nvSpPr>
          <p:cNvPr id="16" name="Arrow"/>
          <p:cNvSpPr/>
          <p:nvPr/>
        </p:nvSpPr>
        <p:spPr>
          <a:xfrm>
            <a:off x="9381744" y="1965960"/>
            <a:ext cx="36576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7" name="Card"/>
          <p:cNvSpPr/>
          <p:nvPr/>
        </p:nvSpPr>
        <p:spPr>
          <a:xfrm>
            <a:off x="9802368" y="169164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802368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548640" y="2834640"/>
            <a:ext cx="213055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29260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Evaluation inputs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Contexts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Reference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2862072" y="2834640"/>
            <a:ext cx="4142232" cy="1920240"/>
          </a:xfrm>
          <a:prstGeom prst="roundRect">
            <a:avLst>
              <a:gd name="adj" fmla="val 381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108960" y="2926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Retrieval quality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Context Precision, Context Recall, Context Relevance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7488936" y="2834640"/>
            <a:ext cx="4142232" cy="1920240"/>
          </a:xfrm>
          <a:prstGeom prst="roundRect">
            <a:avLst>
              <a:gd name="adj" fmla="val 381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35824" y="2926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Generation quality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Faithfulness, Answer Relevance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End to end: Answer Correctness compares the final answer with the reference answer.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RAGAS metrics explained</a:t>
            </a:r>
            <a:endParaRPr lang="en-US" sz="3400" dirty="0"/>
          </a:p>
        </p:txBody>
      </p:sp>
      <p:sp>
        <p:nvSpPr>
          <p:cNvPr id="5" name="Header Metric"/>
          <p:cNvSpPr/>
          <p:nvPr/>
        </p:nvSpPr>
        <p:spPr>
          <a:xfrm>
            <a:off x="548640" y="1691640"/>
            <a:ext cx="215798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Metric</a:t>
            </a:r>
            <a:endParaRPr lang="en-US" sz="1400" dirty="0"/>
          </a:p>
        </p:txBody>
      </p:sp>
      <p:sp>
        <p:nvSpPr>
          <p:cNvPr id="6" name="Header Question it answers"/>
          <p:cNvSpPr/>
          <p:nvPr/>
        </p:nvSpPr>
        <p:spPr>
          <a:xfrm>
            <a:off x="2743200" y="1691640"/>
            <a:ext cx="581558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Question it answers</a:t>
            </a:r>
            <a:endParaRPr lang="en-US" sz="1400" dirty="0"/>
          </a:p>
        </p:txBody>
      </p:sp>
      <p:sp>
        <p:nvSpPr>
          <p:cNvPr id="7" name="Header Layer checked"/>
          <p:cNvSpPr/>
          <p:nvPr/>
        </p:nvSpPr>
        <p:spPr>
          <a:xfrm>
            <a:off x="8595360" y="1691640"/>
            <a:ext cx="300837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Layer checked</a:t>
            </a:r>
            <a:endParaRPr lang="en-US" sz="1400" dirty="0"/>
          </a:p>
        </p:txBody>
      </p:sp>
      <p:sp>
        <p:nvSpPr>
          <p:cNvPr id="8" name="Cell 0-0"/>
          <p:cNvSpPr/>
          <p:nvPr/>
        </p:nvSpPr>
        <p:spPr>
          <a:xfrm>
            <a:off x="548640" y="2185416"/>
            <a:ext cx="21579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Faithfulness</a:t>
            </a:r>
            <a:endParaRPr lang="en-US" sz="1400" dirty="0"/>
          </a:p>
        </p:txBody>
      </p:sp>
      <p:sp>
        <p:nvSpPr>
          <p:cNvPr id="9" name="Cell 0-1"/>
          <p:cNvSpPr/>
          <p:nvPr/>
        </p:nvSpPr>
        <p:spPr>
          <a:xfrm>
            <a:off x="2743200" y="2185416"/>
            <a:ext cx="58155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 the claims in the answer supported by the retrieved context?</a:t>
            </a:r>
            <a:endParaRPr lang="en-US" sz="1400" dirty="0"/>
          </a:p>
        </p:txBody>
      </p:sp>
      <p:sp>
        <p:nvSpPr>
          <p:cNvPr id="10" name="Cell 0-2"/>
          <p:cNvSpPr/>
          <p:nvPr/>
        </p:nvSpPr>
        <p:spPr>
          <a:xfrm>
            <a:off x="8595360" y="2185416"/>
            <a:ext cx="30083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Generation</a:t>
            </a:r>
            <a:endParaRPr lang="en-US" sz="1400" dirty="0"/>
          </a:p>
        </p:txBody>
      </p:sp>
      <p:sp>
        <p:nvSpPr>
          <p:cNvPr id="11" name="Cell 1-0"/>
          <p:cNvSpPr/>
          <p:nvPr/>
        </p:nvSpPr>
        <p:spPr>
          <a:xfrm>
            <a:off x="548640" y="2843784"/>
            <a:ext cx="21579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 Relevance</a:t>
            </a:r>
            <a:endParaRPr lang="en-US" sz="1400" dirty="0"/>
          </a:p>
        </p:txBody>
      </p:sp>
      <p:sp>
        <p:nvSpPr>
          <p:cNvPr id="12" name="Cell 1-1"/>
          <p:cNvSpPr/>
          <p:nvPr/>
        </p:nvSpPr>
        <p:spPr>
          <a:xfrm>
            <a:off x="2743200" y="2843784"/>
            <a:ext cx="58155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the answer address the question that was asked?</a:t>
            </a:r>
            <a:endParaRPr lang="en-US" sz="1400" dirty="0"/>
          </a:p>
        </p:txBody>
      </p:sp>
      <p:sp>
        <p:nvSpPr>
          <p:cNvPr id="13" name="Cell 1-2"/>
          <p:cNvSpPr/>
          <p:nvPr/>
        </p:nvSpPr>
        <p:spPr>
          <a:xfrm>
            <a:off x="8595360" y="2843784"/>
            <a:ext cx="30083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Generation</a:t>
            </a:r>
            <a:endParaRPr lang="en-US" sz="1400" dirty="0"/>
          </a:p>
        </p:txBody>
      </p:sp>
      <p:sp>
        <p:nvSpPr>
          <p:cNvPr id="14" name="Cell 2-0"/>
          <p:cNvSpPr/>
          <p:nvPr/>
        </p:nvSpPr>
        <p:spPr>
          <a:xfrm>
            <a:off x="548640" y="3502152"/>
            <a:ext cx="21579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 Precision</a:t>
            </a:r>
            <a:endParaRPr lang="en-US" sz="1400" dirty="0"/>
          </a:p>
        </p:txBody>
      </p:sp>
      <p:sp>
        <p:nvSpPr>
          <p:cNvPr id="15" name="Cell 2-1"/>
          <p:cNvSpPr/>
          <p:nvPr/>
        </p:nvSpPr>
        <p:spPr>
          <a:xfrm>
            <a:off x="2743200" y="3502152"/>
            <a:ext cx="58155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 relevant chunks ranked near the top of the retrieved set?</a:t>
            </a:r>
            <a:endParaRPr lang="en-US" sz="1400" dirty="0"/>
          </a:p>
        </p:txBody>
      </p:sp>
      <p:sp>
        <p:nvSpPr>
          <p:cNvPr id="16" name="Cell 2-2"/>
          <p:cNvSpPr/>
          <p:nvPr/>
        </p:nvSpPr>
        <p:spPr>
          <a:xfrm>
            <a:off x="8595360" y="3502152"/>
            <a:ext cx="30083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17" name="Cell 3-0"/>
          <p:cNvSpPr/>
          <p:nvPr/>
        </p:nvSpPr>
        <p:spPr>
          <a:xfrm>
            <a:off x="548640" y="4160520"/>
            <a:ext cx="21579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 Recall</a:t>
            </a:r>
            <a:endParaRPr lang="en-US" sz="1400" dirty="0"/>
          </a:p>
        </p:txBody>
      </p:sp>
      <p:sp>
        <p:nvSpPr>
          <p:cNvPr id="18" name="Cell 3-1"/>
          <p:cNvSpPr/>
          <p:nvPr/>
        </p:nvSpPr>
        <p:spPr>
          <a:xfrm>
            <a:off x="2743200" y="4160520"/>
            <a:ext cx="58155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Did retrieval find all the information the reference answer needs?</a:t>
            </a:r>
            <a:endParaRPr lang="en-US" sz="1400" dirty="0"/>
          </a:p>
        </p:txBody>
      </p:sp>
      <p:sp>
        <p:nvSpPr>
          <p:cNvPr id="19" name="Cell 3-2"/>
          <p:cNvSpPr/>
          <p:nvPr/>
        </p:nvSpPr>
        <p:spPr>
          <a:xfrm>
            <a:off x="8595360" y="4160520"/>
            <a:ext cx="30083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20" name="Cell 4-0"/>
          <p:cNvSpPr/>
          <p:nvPr/>
        </p:nvSpPr>
        <p:spPr>
          <a:xfrm>
            <a:off x="548640" y="4818888"/>
            <a:ext cx="21579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 Relevance</a:t>
            </a:r>
            <a:endParaRPr lang="en-US" sz="1400" dirty="0"/>
          </a:p>
        </p:txBody>
      </p:sp>
      <p:sp>
        <p:nvSpPr>
          <p:cNvPr id="21" name="Cell 4-1"/>
          <p:cNvSpPr/>
          <p:nvPr/>
        </p:nvSpPr>
        <p:spPr>
          <a:xfrm>
            <a:off x="2743200" y="4818888"/>
            <a:ext cx="58155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much of the retrieved context is useful for the question?</a:t>
            </a:r>
            <a:endParaRPr lang="en-US" sz="1400" dirty="0"/>
          </a:p>
        </p:txBody>
      </p:sp>
      <p:sp>
        <p:nvSpPr>
          <p:cNvPr id="22" name="Cell 4-2"/>
          <p:cNvSpPr/>
          <p:nvPr/>
        </p:nvSpPr>
        <p:spPr>
          <a:xfrm>
            <a:off x="8595360" y="4818888"/>
            <a:ext cx="30083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23" name="Cell 5-0"/>
          <p:cNvSpPr/>
          <p:nvPr/>
        </p:nvSpPr>
        <p:spPr>
          <a:xfrm>
            <a:off x="548640" y="5477256"/>
            <a:ext cx="21579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 Correctness</a:t>
            </a:r>
            <a:endParaRPr lang="en-US" sz="1400" dirty="0"/>
          </a:p>
        </p:txBody>
      </p:sp>
      <p:sp>
        <p:nvSpPr>
          <p:cNvPr id="24" name="Cell 5-1"/>
          <p:cNvSpPr/>
          <p:nvPr/>
        </p:nvSpPr>
        <p:spPr>
          <a:xfrm>
            <a:off x="2743200" y="5477256"/>
            <a:ext cx="5815584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close is the final answer to the reference in facts and meaning?</a:t>
            </a:r>
            <a:endParaRPr lang="en-US" sz="1400" dirty="0"/>
          </a:p>
        </p:txBody>
      </p:sp>
      <p:sp>
        <p:nvSpPr>
          <p:cNvPr id="25" name="Cell 5-2"/>
          <p:cNvSpPr/>
          <p:nvPr/>
        </p:nvSpPr>
        <p:spPr>
          <a:xfrm>
            <a:off x="8595360" y="5477256"/>
            <a:ext cx="3008376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End to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evaluation dataset</a:t>
            </a:r>
            <a:endParaRPr lang="en-US" sz="3400" dirty="0"/>
          </a:p>
        </p:txBody>
      </p:sp>
      <p:sp>
        <p:nvSpPr>
          <p:cNvPr id="5" name="Header Field"/>
          <p:cNvSpPr/>
          <p:nvPr/>
        </p:nvSpPr>
        <p:spPr>
          <a:xfrm>
            <a:off x="548640" y="1691640"/>
            <a:ext cx="215798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Field</a:t>
            </a:r>
            <a:endParaRPr lang="en-US" sz="1400" dirty="0"/>
          </a:p>
        </p:txBody>
      </p:sp>
      <p:sp>
        <p:nvSpPr>
          <p:cNvPr id="6" name="Header Meaning"/>
          <p:cNvSpPr/>
          <p:nvPr/>
        </p:nvSpPr>
        <p:spPr>
          <a:xfrm>
            <a:off x="2743200" y="1691640"/>
            <a:ext cx="508406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Meaning</a:t>
            </a:r>
            <a:endParaRPr lang="en-US" sz="1400" dirty="0"/>
          </a:p>
        </p:txBody>
      </p:sp>
      <p:sp>
        <p:nvSpPr>
          <p:cNvPr id="7" name="Header Used by"/>
          <p:cNvSpPr/>
          <p:nvPr/>
        </p:nvSpPr>
        <p:spPr>
          <a:xfrm>
            <a:off x="7863840" y="1691640"/>
            <a:ext cx="373989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Used by</a:t>
            </a:r>
            <a:endParaRPr lang="en-US" sz="1400" dirty="0"/>
          </a:p>
        </p:txBody>
      </p:sp>
      <p:sp>
        <p:nvSpPr>
          <p:cNvPr id="8" name="Cell 0-0"/>
          <p:cNvSpPr/>
          <p:nvPr/>
        </p:nvSpPr>
        <p:spPr>
          <a:xfrm>
            <a:off x="548640" y="2185416"/>
            <a:ext cx="215798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question</a:t>
            </a:r>
            <a:endParaRPr lang="en-US" sz="1400" dirty="0"/>
          </a:p>
        </p:txBody>
      </p:sp>
      <p:sp>
        <p:nvSpPr>
          <p:cNvPr id="9" name="Cell 0-1"/>
          <p:cNvSpPr/>
          <p:nvPr/>
        </p:nvSpPr>
        <p:spPr>
          <a:xfrm>
            <a:off x="2743200" y="2185416"/>
            <a:ext cx="5084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user query sent to the pipeline</a:t>
            </a:r>
            <a:endParaRPr lang="en-US" sz="1400" dirty="0"/>
          </a:p>
        </p:txBody>
      </p:sp>
      <p:sp>
        <p:nvSpPr>
          <p:cNvPr id="10" name="Cell 0-2"/>
          <p:cNvSpPr/>
          <p:nvPr/>
        </p:nvSpPr>
        <p:spPr>
          <a:xfrm>
            <a:off x="7863840" y="2185416"/>
            <a:ext cx="373989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metrics</a:t>
            </a:r>
            <a:endParaRPr lang="en-US" sz="1400" dirty="0"/>
          </a:p>
        </p:txBody>
      </p:sp>
      <p:sp>
        <p:nvSpPr>
          <p:cNvPr id="11" name="Cell 1-0"/>
          <p:cNvSpPr/>
          <p:nvPr/>
        </p:nvSpPr>
        <p:spPr>
          <a:xfrm>
            <a:off x="548640" y="2971800"/>
            <a:ext cx="215798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contexts</a:t>
            </a:r>
            <a:endParaRPr lang="en-US" sz="1400" dirty="0"/>
          </a:p>
        </p:txBody>
      </p:sp>
      <p:sp>
        <p:nvSpPr>
          <p:cNvPr id="12" name="Cell 1-1"/>
          <p:cNvSpPr/>
          <p:nvPr/>
        </p:nvSpPr>
        <p:spPr>
          <a:xfrm>
            <a:off x="2743200" y="2971800"/>
            <a:ext cx="5084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Chunks the retriever returned for the question</a:t>
            </a:r>
            <a:endParaRPr lang="en-US" sz="1400" dirty="0"/>
          </a:p>
        </p:txBody>
      </p:sp>
      <p:sp>
        <p:nvSpPr>
          <p:cNvPr id="13" name="Cell 1-2"/>
          <p:cNvSpPr/>
          <p:nvPr/>
        </p:nvSpPr>
        <p:spPr>
          <a:xfrm>
            <a:off x="7863840" y="2971800"/>
            <a:ext cx="373989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Faithfulness and context metrics</a:t>
            </a:r>
            <a:endParaRPr lang="en-US" sz="1400" dirty="0"/>
          </a:p>
        </p:txBody>
      </p:sp>
      <p:sp>
        <p:nvSpPr>
          <p:cNvPr id="14" name="Cell 2-0"/>
          <p:cNvSpPr/>
          <p:nvPr/>
        </p:nvSpPr>
        <p:spPr>
          <a:xfrm>
            <a:off x="548640" y="3758184"/>
            <a:ext cx="215798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</a:t>
            </a:r>
            <a:endParaRPr lang="en-US" sz="1400" dirty="0"/>
          </a:p>
        </p:txBody>
      </p:sp>
      <p:sp>
        <p:nvSpPr>
          <p:cNvPr id="15" name="Cell 2-1"/>
          <p:cNvSpPr/>
          <p:nvPr/>
        </p:nvSpPr>
        <p:spPr>
          <a:xfrm>
            <a:off x="2743200" y="3758184"/>
            <a:ext cx="5084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Response generated by the RAG application</a:t>
            </a:r>
            <a:endParaRPr lang="en-US" sz="1400" dirty="0"/>
          </a:p>
        </p:txBody>
      </p:sp>
      <p:sp>
        <p:nvSpPr>
          <p:cNvPr id="16" name="Cell 2-2"/>
          <p:cNvSpPr/>
          <p:nvPr/>
        </p:nvSpPr>
        <p:spPr>
          <a:xfrm>
            <a:off x="7863840" y="3758184"/>
            <a:ext cx="373989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Faithfulness, relevance, correctness</a:t>
            </a:r>
            <a:endParaRPr lang="en-US" sz="1400" dirty="0"/>
          </a:p>
        </p:txBody>
      </p:sp>
      <p:sp>
        <p:nvSpPr>
          <p:cNvPr id="17" name="Cell 3-0"/>
          <p:cNvSpPr/>
          <p:nvPr/>
        </p:nvSpPr>
        <p:spPr>
          <a:xfrm>
            <a:off x="548640" y="4544568"/>
            <a:ext cx="215798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ground_truth</a:t>
            </a:r>
            <a:endParaRPr lang="en-US" sz="1400" dirty="0"/>
          </a:p>
        </p:txBody>
      </p:sp>
      <p:sp>
        <p:nvSpPr>
          <p:cNvPr id="18" name="Cell 3-1"/>
          <p:cNvSpPr/>
          <p:nvPr/>
        </p:nvSpPr>
        <p:spPr>
          <a:xfrm>
            <a:off x="2743200" y="4544568"/>
            <a:ext cx="5084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Reference answer written or approved by experts</a:t>
            </a:r>
            <a:endParaRPr lang="en-US" sz="1400" dirty="0"/>
          </a:p>
        </p:txBody>
      </p:sp>
      <p:sp>
        <p:nvSpPr>
          <p:cNvPr id="19" name="Cell 3-2"/>
          <p:cNvSpPr/>
          <p:nvPr/>
        </p:nvSpPr>
        <p:spPr>
          <a:xfrm>
            <a:off x="7863840" y="4544568"/>
            <a:ext cx="373989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Context recall, correctness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55321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Build the set from real questions, then freeze it so runs stay comparable.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Faithfulness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 = claims in the answer supported by the context / total claims in the answer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LLM splits the answer into separate factual claims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claim is checked against the retrieved context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score is the share of claims that are supported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Directly measures hallucination against 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no reference answer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 link to compliance and trust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Depends on the quality of the judge LLM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Cannot catch errors present in the context itself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Slower and costlier than overlap metrics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Low faithfulness with good contexts points to the prompt or the generator.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Answer Relevance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Relevance = mean cosine similarity between the question and questions generated from the answer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LLM writes questions that the answer would satisfy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generated question is embedded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Similarity to the original question is averaged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Detects off-topic and incomplete answers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no reference answer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Separates relevance from factual correctness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Does not check whether the answer is true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Sensitive to the embedding model and judge LLM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several generated questions for stability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 relevance with low faithfulness means a confident, on-topic, ungrounded answer.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Context Precision and Recall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 = relevant chunks ranked near the top of the retrieved set          Context Recall = reference statements found in context / all reference statements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Precision: judge each retrieved chunk as relevant or not, by rank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Recall: split the reference answer into statements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Recall: check each statement against the retrieved context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Isolates retrieval faults from generation faults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Precision guides ranking and re-ranking fixes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Recall guides chunking and top-k fixes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Recall needs a reference answer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Precision depends on chunk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rely on an LLM judge for relevance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Low recall means the answer cannot be right: fix retrieval before the prompt.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Deep dive: Answer Correctness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Correctness = weighted blend of factual overlap and semantic similarity with the reference answer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Compares claims in answer and reference for true and false positives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Adds embedding similarity between the two answers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Combines both into one score between 0 and 1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44568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 end-to-end view of answer quality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Rewards correct facts in different wording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Easy to trend across releases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83296" y="297180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11896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35661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a trusted reference answer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Hides whether retrieval or generation failed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blend weights are a design choice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 correctness for the headline trend, then read the other metrics to diagnose.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Reading a scorecard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7589520" y="1691640"/>
            <a:ext cx="4050792" cy="4114800"/>
          </a:xfrm>
          <a:prstGeom prst="roundRect">
            <a:avLst>
              <a:gd name="adj" fmla="val 1806"/>
            </a:avLst>
          </a:prstGeom>
          <a:solidFill>
            <a:schemeClr val="tx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86384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What this pattern says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25146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Faithfulness and relevance are strong: the generator behaves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Context recall is the weakest score: needed facts are missed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Precision is moderate: some noise reaches the prompt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Next: tune chunking and top-k, then re-score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Illustrative values, not results from the session.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Reading the scores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 to 1.00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Strong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Safe to ship; keep monitoring on new questions.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15968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44568" y="17830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 to 0.79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Needs review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Inspect the weakest queries and apply targeted fixes.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8083296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11896" y="17830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0.50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Failing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root cause before release.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low score usually signals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41605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4206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Low Faithfulness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adds claims the context does not support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3328416" y="41605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511296" y="4206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Low Answer Relevance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answer is off-topic or incomplete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108192" y="41605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91072" y="4206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Low Context Precision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Relevant chunks are buried among noise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887968" y="41605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070848" y="42062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Low Context Recall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Needed information was never retrieved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Rule-of-thumb bands only. Set thresholds from the business risk of a wrong answer.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Retrieval and generation fail independently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194560" y="1645920"/>
            <a:ext cx="466344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Generation: good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49440" y="1645920"/>
            <a:ext cx="466344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Generation: poor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1554480" cy="18288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Retrieval: good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1554480" cy="18288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Retrieval: poor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2194560" y="2148840"/>
            <a:ext cx="4663440" cy="1828800"/>
          </a:xfrm>
          <a:prstGeom prst="roundRect">
            <a:avLst>
              <a:gd name="adj" fmla="val 4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23160" y="22402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Healthy system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High context and answer scores. Keep monitoring on new questions.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949440" y="2148840"/>
            <a:ext cx="4663440" cy="1828800"/>
          </a:xfrm>
          <a:prstGeom prst="roundRect">
            <a:avLst>
              <a:gd name="adj" fmla="val 4000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22402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Right context, weak answer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Context recall is high but faithfulness or relevance is low. Fix the prompt, model or settings.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2194560" y="4069080"/>
            <a:ext cx="4663440" cy="1828800"/>
          </a:xfrm>
          <a:prstGeom prst="roundRect">
            <a:avLst>
              <a:gd name="adj" fmla="val 4000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423160" y="41605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Fluent answer on weak context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answer reads well but context precision or recall is low. Fix chunking, embeddings or top-k.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949440" y="4069080"/>
            <a:ext cx="4663440" cy="1828800"/>
          </a:xfrm>
          <a:prstGeom prst="roundRect">
            <a:avLst>
              <a:gd name="adj" fmla="val 4000"/>
            </a:avLst>
          </a:prstGeom>
          <a:solidFill>
            <a:schemeClr val="accent6">
              <a:alpha val="10000"/>
            </a:scheme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78040" y="41605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Fix retrieval first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Generation cannot recover missing context. Repair retrieval, then re-score the answers.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Evaluating standalone LLM versus RAG</a:t>
            </a:r>
            <a:endParaRPr lang="en-US" sz="3400" dirty="0"/>
          </a:p>
        </p:txBody>
      </p:sp>
      <p:sp>
        <p:nvSpPr>
          <p:cNvPr id="5" name="Header Aspect"/>
          <p:cNvSpPr/>
          <p:nvPr/>
        </p:nvSpPr>
        <p:spPr>
          <a:xfrm>
            <a:off x="548640" y="1691640"/>
            <a:ext cx="224942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Aspect</a:t>
            </a:r>
            <a:endParaRPr lang="en-US" sz="1400" dirty="0"/>
          </a:p>
        </p:txBody>
      </p:sp>
      <p:sp>
        <p:nvSpPr>
          <p:cNvPr id="6" name="Header Standalone LLM"/>
          <p:cNvSpPr/>
          <p:nvPr/>
        </p:nvSpPr>
        <p:spPr>
          <a:xfrm>
            <a:off x="2834640" y="1691640"/>
            <a:ext cx="435254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Standalone LLM</a:t>
            </a:r>
            <a:endParaRPr lang="en-US" sz="1400" dirty="0"/>
          </a:p>
        </p:txBody>
      </p:sp>
      <p:sp>
        <p:nvSpPr>
          <p:cNvPr id="7" name="Header RAG application"/>
          <p:cNvSpPr/>
          <p:nvPr/>
        </p:nvSpPr>
        <p:spPr>
          <a:xfrm>
            <a:off x="7223760" y="1691640"/>
            <a:ext cx="437997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RAG application</a:t>
            </a:r>
            <a:endParaRPr lang="en-US" sz="1400" dirty="0"/>
          </a:p>
        </p:txBody>
      </p:sp>
      <p:sp>
        <p:nvSpPr>
          <p:cNvPr id="8" name="Cell 0-0"/>
          <p:cNvSpPr/>
          <p:nvPr/>
        </p:nvSpPr>
        <p:spPr>
          <a:xfrm>
            <a:off x="548640" y="2185416"/>
            <a:ext cx="224942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Main focus</a:t>
            </a:r>
            <a:endParaRPr lang="en-US" sz="1400" dirty="0"/>
          </a:p>
        </p:txBody>
      </p:sp>
      <p:sp>
        <p:nvSpPr>
          <p:cNvPr id="9" name="Cell 0-1"/>
          <p:cNvSpPr/>
          <p:nvPr/>
        </p:nvSpPr>
        <p:spPr>
          <a:xfrm>
            <a:off x="2834640" y="2185416"/>
            <a:ext cx="435254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Response quality against reference text</a:t>
            </a:r>
            <a:endParaRPr lang="en-US" sz="1400" dirty="0"/>
          </a:p>
        </p:txBody>
      </p:sp>
      <p:sp>
        <p:nvSpPr>
          <p:cNvPr id="10" name="Cell 0-2"/>
          <p:cNvSpPr/>
          <p:nvPr/>
        </p:nvSpPr>
        <p:spPr>
          <a:xfrm>
            <a:off x="7223760" y="2185416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Retrieval quality plus response quality</a:t>
            </a:r>
            <a:endParaRPr lang="en-US" sz="1400" dirty="0"/>
          </a:p>
        </p:txBody>
      </p:sp>
      <p:sp>
        <p:nvSpPr>
          <p:cNvPr id="11" name="Cell 1-0"/>
          <p:cNvSpPr/>
          <p:nvPr/>
        </p:nvSpPr>
        <p:spPr>
          <a:xfrm>
            <a:off x="548640" y="2971800"/>
            <a:ext cx="224942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Metrics</a:t>
            </a:r>
            <a:endParaRPr lang="en-US" sz="1400" dirty="0"/>
          </a:p>
        </p:txBody>
      </p:sp>
      <p:sp>
        <p:nvSpPr>
          <p:cNvPr id="12" name="Cell 1-1"/>
          <p:cNvSpPr/>
          <p:nvPr/>
        </p:nvSpPr>
        <p:spPr>
          <a:xfrm>
            <a:off x="2834640" y="2971800"/>
            <a:ext cx="435254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BLEU, ROUGE, METEOR, BERTScore</a:t>
            </a:r>
            <a:endParaRPr lang="en-US" sz="1400" dirty="0"/>
          </a:p>
        </p:txBody>
      </p:sp>
      <p:sp>
        <p:nvSpPr>
          <p:cNvPr id="13" name="Cell 1-2"/>
          <p:cNvSpPr/>
          <p:nvPr/>
        </p:nvSpPr>
        <p:spPr>
          <a:xfrm>
            <a:off x="7223760" y="2971800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Faithfulness, relevance, context precision and recall</a:t>
            </a:r>
            <a:endParaRPr lang="en-US" sz="1400" dirty="0"/>
          </a:p>
        </p:txBody>
      </p:sp>
      <p:sp>
        <p:nvSpPr>
          <p:cNvPr id="14" name="Cell 2-0"/>
          <p:cNvSpPr/>
          <p:nvPr/>
        </p:nvSpPr>
        <p:spPr>
          <a:xfrm>
            <a:off x="548640" y="3758184"/>
            <a:ext cx="224942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Factual grounding</a:t>
            </a:r>
            <a:endParaRPr lang="en-US" sz="1400" dirty="0"/>
          </a:p>
        </p:txBody>
      </p:sp>
      <p:sp>
        <p:nvSpPr>
          <p:cNvPr id="15" name="Cell 2-1"/>
          <p:cNvSpPr/>
          <p:nvPr/>
        </p:nvSpPr>
        <p:spPr>
          <a:xfrm>
            <a:off x="2834640" y="3758184"/>
            <a:ext cx="435254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Cannot be checked without source context</a:t>
            </a:r>
            <a:endParaRPr lang="en-US" sz="1400" dirty="0"/>
          </a:p>
        </p:txBody>
      </p:sp>
      <p:sp>
        <p:nvSpPr>
          <p:cNvPr id="16" name="Cell 2-2"/>
          <p:cNvSpPr/>
          <p:nvPr/>
        </p:nvSpPr>
        <p:spPr>
          <a:xfrm>
            <a:off x="7223760" y="3758184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Checked against the retrieved context</a:t>
            </a:r>
            <a:endParaRPr lang="en-US" sz="1400" dirty="0"/>
          </a:p>
        </p:txBody>
      </p:sp>
      <p:sp>
        <p:nvSpPr>
          <p:cNvPr id="17" name="Cell 3-0"/>
          <p:cNvSpPr/>
          <p:nvPr/>
        </p:nvSpPr>
        <p:spPr>
          <a:xfrm>
            <a:off x="548640" y="4544568"/>
            <a:ext cx="224942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Typical failure</a:t>
            </a:r>
            <a:endParaRPr lang="en-US" sz="1400" dirty="0"/>
          </a:p>
        </p:txBody>
      </p:sp>
      <p:sp>
        <p:nvSpPr>
          <p:cNvPr id="18" name="Cell 3-1"/>
          <p:cNvSpPr/>
          <p:nvPr/>
        </p:nvSpPr>
        <p:spPr>
          <a:xfrm>
            <a:off x="2834640" y="4544568"/>
            <a:ext cx="435254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Fluent but invented or outdated facts</a:t>
            </a:r>
            <a:endParaRPr lang="en-US" sz="1400" dirty="0"/>
          </a:p>
        </p:txBody>
      </p:sp>
      <p:sp>
        <p:nvSpPr>
          <p:cNvPr id="19" name="Cell 3-2"/>
          <p:cNvSpPr/>
          <p:nvPr/>
        </p:nvSpPr>
        <p:spPr>
          <a:xfrm>
            <a:off x="7223760" y="4544568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Missed chunks, noisy context, unfaithful answers</a:t>
            </a:r>
            <a:endParaRPr lang="en-US" sz="1400" dirty="0"/>
          </a:p>
        </p:txBody>
      </p:sp>
      <p:sp>
        <p:nvSpPr>
          <p:cNvPr id="20" name="Cell 4-0"/>
          <p:cNvSpPr/>
          <p:nvPr/>
        </p:nvSpPr>
        <p:spPr>
          <a:xfrm>
            <a:off x="548640" y="5330952"/>
            <a:ext cx="224942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Business reading</a:t>
            </a:r>
            <a:endParaRPr lang="en-US" sz="1400" dirty="0"/>
          </a:p>
        </p:txBody>
      </p:sp>
      <p:sp>
        <p:nvSpPr>
          <p:cNvPr id="21" name="Cell 4-1"/>
          <p:cNvSpPr/>
          <p:nvPr/>
        </p:nvSpPr>
        <p:spPr>
          <a:xfrm>
            <a:off x="2834640" y="5330952"/>
            <a:ext cx="435254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the copy fit the brief and tone?</a:t>
            </a:r>
            <a:endParaRPr lang="en-US" sz="1400" dirty="0"/>
          </a:p>
        </p:txBody>
      </p:sp>
      <p:sp>
        <p:nvSpPr>
          <p:cNvPr id="22" name="Cell 4-2"/>
          <p:cNvSpPr/>
          <p:nvPr/>
        </p:nvSpPr>
        <p:spPr>
          <a:xfrm>
            <a:off x="7223760" y="5330952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 staff trust answers from company documents?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Locating the source of a failure</a:t>
            </a:r>
            <a:endParaRPr lang="en-US" sz="3400" dirty="0"/>
          </a:p>
        </p:txBody>
      </p:sp>
      <p:sp>
        <p:nvSpPr>
          <p:cNvPr id="5" name="Header Score pattern"/>
          <p:cNvSpPr/>
          <p:nvPr/>
        </p:nvSpPr>
        <p:spPr>
          <a:xfrm>
            <a:off x="548640" y="1691640"/>
            <a:ext cx="279806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Score pattern</a:t>
            </a:r>
            <a:endParaRPr lang="en-US" sz="1400" dirty="0"/>
          </a:p>
        </p:txBody>
      </p:sp>
      <p:sp>
        <p:nvSpPr>
          <p:cNvPr id="6" name="Header Likely origin"/>
          <p:cNvSpPr/>
          <p:nvPr/>
        </p:nvSpPr>
        <p:spPr>
          <a:xfrm>
            <a:off x="3383280" y="1691640"/>
            <a:ext cx="380390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Likely origin</a:t>
            </a:r>
            <a:endParaRPr lang="en-US" sz="1400" dirty="0"/>
          </a:p>
        </p:txBody>
      </p:sp>
      <p:sp>
        <p:nvSpPr>
          <p:cNvPr id="7" name="Header First fix to try"/>
          <p:cNvSpPr/>
          <p:nvPr/>
        </p:nvSpPr>
        <p:spPr>
          <a:xfrm>
            <a:off x="7223760" y="1691640"/>
            <a:ext cx="4379976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First fix to try</a:t>
            </a:r>
            <a:endParaRPr lang="en-US" sz="1400" dirty="0"/>
          </a:p>
        </p:txBody>
      </p:sp>
      <p:sp>
        <p:nvSpPr>
          <p:cNvPr id="8" name="Cell 0-0"/>
          <p:cNvSpPr/>
          <p:nvPr/>
        </p:nvSpPr>
        <p:spPr>
          <a:xfrm>
            <a:off x="548640" y="2185416"/>
            <a:ext cx="2798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context recall</a:t>
            </a:r>
            <a:endParaRPr lang="en-US" sz="1400" dirty="0"/>
          </a:p>
        </p:txBody>
      </p:sp>
      <p:sp>
        <p:nvSpPr>
          <p:cNvPr id="9" name="Cell 0-1"/>
          <p:cNvSpPr/>
          <p:nvPr/>
        </p:nvSpPr>
        <p:spPr>
          <a:xfrm>
            <a:off x="3383280" y="2185416"/>
            <a:ext cx="380390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Retrieval: chunking, embeddings, top-k</a:t>
            </a:r>
            <a:endParaRPr lang="en-US" sz="1400" dirty="0"/>
          </a:p>
        </p:txBody>
      </p:sp>
      <p:sp>
        <p:nvSpPr>
          <p:cNvPr id="10" name="Cell 0-2"/>
          <p:cNvSpPr/>
          <p:nvPr/>
        </p:nvSpPr>
        <p:spPr>
          <a:xfrm>
            <a:off x="7223760" y="2185416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Resize chunks, raise k, try a stronger embedding model</a:t>
            </a:r>
            <a:endParaRPr lang="en-US" sz="1400" dirty="0"/>
          </a:p>
        </p:txBody>
      </p:sp>
      <p:sp>
        <p:nvSpPr>
          <p:cNvPr id="11" name="Cell 1-0"/>
          <p:cNvSpPr/>
          <p:nvPr/>
        </p:nvSpPr>
        <p:spPr>
          <a:xfrm>
            <a:off x="548640" y="2971800"/>
            <a:ext cx="2798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context precision</a:t>
            </a:r>
            <a:endParaRPr lang="en-US" sz="1400" dirty="0"/>
          </a:p>
        </p:txBody>
      </p:sp>
      <p:sp>
        <p:nvSpPr>
          <p:cNvPr id="12" name="Cell 1-1"/>
          <p:cNvSpPr/>
          <p:nvPr/>
        </p:nvSpPr>
        <p:spPr>
          <a:xfrm>
            <a:off x="3383280" y="2971800"/>
            <a:ext cx="380390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Retrieval: ranking and noise</a:t>
            </a:r>
            <a:endParaRPr lang="en-US" sz="1400" dirty="0"/>
          </a:p>
        </p:txBody>
      </p:sp>
      <p:sp>
        <p:nvSpPr>
          <p:cNvPr id="13" name="Cell 1-2"/>
          <p:cNvSpPr/>
          <p:nvPr/>
        </p:nvSpPr>
        <p:spPr>
          <a:xfrm>
            <a:off x="7223760" y="2971800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re-ranking or metadata filters, reduce k</a:t>
            </a:r>
            <a:endParaRPr lang="en-US" sz="1400" dirty="0"/>
          </a:p>
        </p:txBody>
      </p:sp>
      <p:sp>
        <p:nvSpPr>
          <p:cNvPr id="14" name="Cell 2-0"/>
          <p:cNvSpPr/>
          <p:nvPr/>
        </p:nvSpPr>
        <p:spPr>
          <a:xfrm>
            <a:off x="548640" y="3758184"/>
            <a:ext cx="2798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faithfulness, good contexts</a:t>
            </a:r>
            <a:endParaRPr lang="en-US" sz="1400" dirty="0"/>
          </a:p>
        </p:txBody>
      </p:sp>
      <p:sp>
        <p:nvSpPr>
          <p:cNvPr id="15" name="Cell 2-1"/>
          <p:cNvSpPr/>
          <p:nvPr/>
        </p:nvSpPr>
        <p:spPr>
          <a:xfrm>
            <a:off x="3383280" y="3758184"/>
            <a:ext cx="380390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Generation or prompt design</a:t>
            </a:r>
            <a:endParaRPr lang="en-US" sz="1400" dirty="0"/>
          </a:p>
        </p:txBody>
      </p:sp>
      <p:sp>
        <p:nvSpPr>
          <p:cNvPr id="16" name="Cell 2-2"/>
          <p:cNvSpPr/>
          <p:nvPr/>
        </p:nvSpPr>
        <p:spPr>
          <a:xfrm>
            <a:off x="7223760" y="3758184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Tell the model to answer only from the context</a:t>
            </a:r>
            <a:endParaRPr lang="en-US" sz="1400" dirty="0"/>
          </a:p>
        </p:txBody>
      </p:sp>
      <p:sp>
        <p:nvSpPr>
          <p:cNvPr id="17" name="Cell 3-0"/>
          <p:cNvSpPr/>
          <p:nvPr/>
        </p:nvSpPr>
        <p:spPr>
          <a:xfrm>
            <a:off x="548640" y="4544568"/>
            <a:ext cx="2798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answer relevance</a:t>
            </a:r>
            <a:endParaRPr lang="en-US" sz="1400" dirty="0"/>
          </a:p>
        </p:txBody>
      </p:sp>
      <p:sp>
        <p:nvSpPr>
          <p:cNvPr id="18" name="Cell 3-1"/>
          <p:cNvSpPr/>
          <p:nvPr/>
        </p:nvSpPr>
        <p:spPr>
          <a:xfrm>
            <a:off x="3383280" y="4544568"/>
            <a:ext cx="380390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 or question handling</a:t>
            </a:r>
            <a:endParaRPr lang="en-US" sz="1400" dirty="0"/>
          </a:p>
        </p:txBody>
      </p:sp>
      <p:sp>
        <p:nvSpPr>
          <p:cNvPr id="19" name="Cell 3-2"/>
          <p:cNvSpPr/>
          <p:nvPr/>
        </p:nvSpPr>
        <p:spPr>
          <a:xfrm>
            <a:off x="7223760" y="4544568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Clarify the task, rewrite the query, add examples</a:t>
            </a:r>
            <a:endParaRPr lang="en-US" sz="1400" dirty="0"/>
          </a:p>
        </p:txBody>
      </p:sp>
      <p:sp>
        <p:nvSpPr>
          <p:cNvPr id="20" name="Cell 4-0"/>
          <p:cNvSpPr/>
          <p:nvPr/>
        </p:nvSpPr>
        <p:spPr>
          <a:xfrm>
            <a:off x="548640" y="5330952"/>
            <a:ext cx="279806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correctness, other scores high</a:t>
            </a:r>
            <a:endParaRPr lang="en-US" sz="1400" dirty="0"/>
          </a:p>
        </p:txBody>
      </p:sp>
      <p:sp>
        <p:nvSpPr>
          <p:cNvPr id="21" name="Cell 4-1"/>
          <p:cNvSpPr/>
          <p:nvPr/>
        </p:nvSpPr>
        <p:spPr>
          <a:xfrm>
            <a:off x="3383280" y="5330952"/>
            <a:ext cx="3803904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 documents or reference answers</a:t>
            </a:r>
            <a:endParaRPr lang="en-US" sz="1400" dirty="0"/>
          </a:p>
        </p:txBody>
      </p:sp>
      <p:sp>
        <p:nvSpPr>
          <p:cNvPr id="22" name="Cell 4-2"/>
          <p:cNvSpPr/>
          <p:nvPr/>
        </p:nvSpPr>
        <p:spPr>
          <a:xfrm>
            <a:off x="7223760" y="5330952"/>
            <a:ext cx="4379976" cy="7498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Audit document quality and the reference 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4  |  EVALUATING THE RAG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Evaluation-driven improvement loop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Measure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a fixed question set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114800" y="178308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/>
          <p:nvPr/>
        </p:nvSpPr>
        <p:spPr>
          <a:xfrm>
            <a:off x="429768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Diagnose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Locate retrieval or generation faults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114800" y="397764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429768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Change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343400" y="4754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Adjust prompt, chunks or retrieval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397764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8" name="Number 4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Re-evaluate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754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against the previous run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3383280" y="2240280"/>
            <a:ext cx="640080" cy="4572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Arrow"/>
          <p:cNvSpPr/>
          <p:nvPr/>
        </p:nvSpPr>
        <p:spPr>
          <a:xfrm>
            <a:off x="5257800" y="3246120"/>
            <a:ext cx="457200" cy="640080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23" name="Arrow"/>
          <p:cNvSpPr/>
          <p:nvPr/>
        </p:nvSpPr>
        <p:spPr>
          <a:xfrm>
            <a:off x="3383280" y="4434840"/>
            <a:ext cx="640080" cy="457200"/>
          </a:xfrm>
          <a:prstGeom prst="leftArrow">
            <a:avLst/>
          </a:prstGeom>
          <a:solidFill>
            <a:schemeClr val="accent5"/>
          </a:solidFill>
          <a:ln/>
        </p:spPr>
      </p:sp>
      <p:sp>
        <p:nvSpPr>
          <p:cNvPr id="24" name="Arrow"/>
          <p:cNvSpPr/>
          <p:nvPr/>
        </p:nvSpPr>
        <p:spPr>
          <a:xfrm>
            <a:off x="1691640" y="3246120"/>
            <a:ext cx="457200" cy="640080"/>
          </a:xfrm>
          <a:prstGeom prst="upArrow">
            <a:avLst/>
          </a:prstGeom>
          <a:solidFill>
            <a:schemeClr val="accent5"/>
          </a:solidFill>
          <a:ln/>
        </p:spPr>
      </p:sp>
      <p:sp>
        <p:nvSpPr>
          <p:cNvPr id="25" name="Card"/>
          <p:cNvSpPr/>
          <p:nvPr/>
        </p:nvSpPr>
        <p:spPr>
          <a:xfrm>
            <a:off x="7498080" y="1783080"/>
            <a:ext cx="4142232" cy="35661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Linking scores to outcomes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6060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Compliance risk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Set a high faithfulness threshold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Support resolution time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Track context recall on common tickets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Brand risk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Add tone review to the rubric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5  |  CONCLUSION AND Q&amp;A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64792"/>
            <a:ext cx="4343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Evaluation is multi-dimensional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 single score captures quality for open-ended generation.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6382512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159752" y="1764792"/>
            <a:ext cx="4343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Reference metrics have limits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BLEU, ROUGE, METEOR and BERTScore compare with references but miss facts and tone.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320040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/>
          <p:nvPr/>
        </p:nvSpPr>
        <p:spPr>
          <a:xfrm>
            <a:off x="731520" y="3611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3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3273552"/>
            <a:ext cx="4343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RAG adds new dimensions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Retrieval quality, faithfulness and groundedness must be measured separately.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99632" y="320040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Number 4"/>
          <p:cNvSpPr/>
          <p:nvPr/>
        </p:nvSpPr>
        <p:spPr>
          <a:xfrm>
            <a:off x="6382512" y="3611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4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159752" y="3273552"/>
            <a:ext cx="4343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Metrics follow the objective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Choose metrics from the business goal and the system architecture.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8" name="Number 5"/>
          <p:cNvSpPr/>
          <p:nvPr/>
        </p:nvSpPr>
        <p:spPr>
          <a:xfrm>
            <a:off x="731520" y="5120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5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782312"/>
            <a:ext cx="4343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Evaluation drives improvement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Scores guide fixes to prompts, retrieval and system design.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199632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73952" y="4709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Workflow recap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Build → Generate → Evaluate → Diagnose → Improve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5  |  CONCLUSION AND Q&amp;A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Use LLMs as a productivity partner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35661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Knowledge discovery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for an explanation of a metric, a comparison of two metrics or a worked example.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731520" y="3520440"/>
            <a:ext cx="32004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35661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Explain context recall using an HR policy assistant as the example.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5968" y="1691640"/>
            <a:ext cx="35661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2" name="Number 2"/>
          <p:cNvSpPr/>
          <p:nvPr/>
        </p:nvSpPr>
        <p:spPr>
          <a:xfrm>
            <a:off x="4544568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184648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Code and debugging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44568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Paste the cell and the full error, then ask for the cause and a fix.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498848" y="3520440"/>
            <a:ext cx="32004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81728" y="35661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This Chroma query returns no results. Here is my code and error. What should I check?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8083296" y="1691640"/>
            <a:ext cx="35661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8" name="Number 3"/>
          <p:cNvSpPr/>
          <p:nvPr/>
        </p:nvSpPr>
        <p:spPr>
          <a:xfrm>
            <a:off x="8311896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95197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Tool troubleshooting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311896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versions and the exact message from LangChain, ChromaDB or Ollama.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8266176" y="3520440"/>
            <a:ext cx="32004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49056" y="35661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Ollama cannot load my model. List likely causes in order of probability.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Always verify AI-generated code and explanations against official documentation.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OPEN DISCUSSION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6916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Questions and discussion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Evaluation choices always follow the business objective and the application architecture.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7772400" y="1554480"/>
            <a:ext cx="38862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8001000" y="19019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691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Metrics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Choosing and interpreting scores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7772400" y="3017520"/>
            <a:ext cx="38862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8001000" y="33649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31546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RAG 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Chunking, retrieval and prompts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7772400" y="4480560"/>
            <a:ext cx="3886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12" name="Number 3"/>
          <p:cNvSpPr/>
          <p:nvPr/>
        </p:nvSpPr>
        <p:spPr>
          <a:xfrm>
            <a:off x="8001000" y="48280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3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4617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Debugging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Tooling and LLM-assisted fixes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Evaluation">
  <a:themeElements>
    <a:clrScheme name="LLM Evaluation">
      <a:dk1>
        <a:srgbClr val="1B2733"/>
      </a:dk1>
      <a:lt1>
        <a:srgbClr val="FFFFFF"/>
      </a:lt1>
      <a:dk2>
        <a:srgbClr val="0E4D5A"/>
      </a:dk2>
      <a:lt2>
        <a:srgbClr val="EAF2F3"/>
      </a:lt2>
      <a:accent1>
        <a:srgbClr val="0F766E"/>
      </a:accent1>
      <a:accent2>
        <a:srgbClr val="B45309"/>
      </a:accent2>
      <a:accent3>
        <a:srgbClr val="2F6690"/>
      </a:accent3>
      <a:accent4>
        <a:srgbClr val="6B5B95"/>
      </a:accent4>
      <a:accent5>
        <a:srgbClr val="5B6B7A"/>
      </a:accent5>
      <a:accent6>
        <a:srgbClr val="B3394A"/>
      </a:accent6>
      <a:hlink>
        <a:srgbClr val="0F766E"/>
      </a:hlink>
      <a:folHlink>
        <a:srgbClr val="5B6B7A"/>
      </a:folHlink>
    </a:clrScheme>
    <a:fontScheme name="LLM Evalu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Evaluation Demonstration</dc:title>
  <dc:subject>PptxGenJS Presentation</dc:subject>
  <dc:creator>PptxGenJS</dc:creator>
  <cp:lastModifiedBy>PptxGenJS</cp:lastModifiedBy>
  <cp:revision>1</cp:revision>
  <dcterms:created xsi:type="dcterms:W3CDTF">2026-10-22T07:44:42Z</dcterms:created>
  <dcterms:modified xsi:type="dcterms:W3CDTF">2026-10-22T07:44:42Z</dcterms:modified>
</cp:coreProperties>
</file>