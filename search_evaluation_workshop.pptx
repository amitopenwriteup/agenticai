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af26690-49e4-ece6-937f-115f64c85b16}">
          <p14:sldIdLst>
            <p14:sldId id="256"/>
            <p14:sldId id="257"/>
          </p14:sldIdLst>
        </p14:section>
        <p14:section name="Part I: Search Systems Refresher" id="{dcf8cf13-b851-61f3-51ee-c270f5eade3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art II: Standard Evaluation Methods" id="{621bcf69-7cfe-a773-38f4-ff6006594766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Part III: Hands-On Lab" id="{630d7777-d9ec-e84c-506c-dc1f7405ad6e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Part IV: Challenges and Trends" id="{5b7f88ff-ee63-ca6c-a614-c81287a26057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Part V: Doubt Resolution" id="{acc5ff2d-6363-3e19-96b9-4b61cb98bd1b}">
          <p14:sldIdLst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Precision@k</c:v>
                </c:pt>
              </c:strCache>
            </c:strRef>
          </c:tx>
          <c:spPr>
            <a:solidFill>
              <a:srgbClr val="D9573B"/>
            </a:solidFill>
            <a:ln w="38100" cap="flat">
              <a:solidFill>
                <a:srgbClr val="D957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573B"/>
              </a:solidFill>
              <a:ln w="9525" cap="flat">
                <a:solidFill>
                  <a:srgbClr val="D957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0.5</c:v>
                </c:pt>
                <c:pt idx="2">
                  <c:v>0.667</c:v>
                </c:pt>
                <c:pt idx="3">
                  <c:v>0.5</c:v>
                </c:pt>
                <c:pt idx="4">
                  <c:v>0.4</c:v>
                </c:pt>
                <c:pt idx="5">
                  <c:v>0.5</c:v>
                </c:pt>
                <c:pt idx="6">
                  <c:v>0.429</c:v>
                </c:pt>
                <c:pt idx="7">
                  <c:v>0.375</c:v>
                </c:pt>
                <c:pt idx="8">
                  <c:v>0.333</c:v>
                </c:pt>
                <c:pt idx="9">
                  <c:v>0.3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Recall@k</c:v>
                </c:pt>
              </c:strCache>
            </c:strRef>
          </c:tx>
          <c:spPr>
            <a:solidFill>
              <a:srgbClr val="0B7A75"/>
            </a:solidFill>
            <a:ln w="38100" cap="flat">
              <a:solidFill>
                <a:srgbClr val="0B7A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B7A75"/>
              </a:solidFill>
              <a:ln w="9525" cap="flat">
                <a:solidFill>
                  <a:srgbClr val="0B7A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0.25</c:v>
                </c:pt>
                <c:pt idx="1">
                  <c:v>0.25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0.75</c:v>
                </c:pt>
                <c:pt idx="8">
                  <c:v>0.75</c:v>
                </c:pt>
                <c:pt idx="9">
                  <c:v>0.75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F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0B1F33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0B1F33"/>
                    </a:solidFill>
                    <a:latin typeface="+mn-lt"/>
                  </a:rPr>
                  <a:t>k (cut-off)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5E1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0B1F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1F33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1F33"/>
                </a:solidFill>
                <a:latin typeface="+mn-lt"/>
              </a:rPr>
              <a:t>Same sentence pair, different metrics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 (smoothed)</c:v>
                  </c:pt>
                  <c:pt idx="1">
                    <c:v>ROUGE-1 F1</c:v>
                  </c:pt>
                  <c:pt idx="2">
                    <c:v>ROUGE-2 F1</c:v>
                  </c:pt>
                  <c:pt idx="3">
                    <c:v>ROUGE-L F1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0.38</c:v>
                </c:pt>
                <c:pt idx="1">
                  <c:v>0.833</c:v>
                </c:pt>
                <c:pt idx="2">
                  <c:v>0.6</c:v>
                </c:pt>
                <c:pt idx="3">
                  <c:v>0.833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F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5E1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Copy top chunk</c:v>
                </c:pt>
              </c:strCache>
            </c:strRef>
          </c:tx>
          <c:spPr>
            <a:solidFill>
              <a:srgbClr val="5C6B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</c:v>
                  </c:pt>
                  <c:pt idx="1">
                    <c:v>ROUGE-1</c:v>
                  </c:pt>
                  <c:pt idx="2">
                    <c:v>ROUGE-2</c:v>
                  </c:pt>
                  <c:pt idx="3">
                    <c:v>ROUGE-L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0.104</c:v>
                </c:pt>
                <c:pt idx="1">
                  <c:v>0.488</c:v>
                </c:pt>
                <c:pt idx="2">
                  <c:v>0.293</c:v>
                </c:pt>
                <c:pt idx="3">
                  <c:v>0.437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LLM-style answers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</c:v>
                  </c:pt>
                  <c:pt idx="1">
                    <c:v>ROUGE-1</c:v>
                  </c:pt>
                  <c:pt idx="2">
                    <c:v>ROUGE-2</c:v>
                  </c:pt>
                  <c:pt idx="3">
                    <c:v>ROUGE-L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0.171</c:v>
                </c:pt>
                <c:pt idx="1">
                  <c:v>0.603</c:v>
                </c:pt>
                <c:pt idx="2">
                  <c:v>0.27</c:v>
                </c:pt>
                <c:pt idx="3">
                  <c:v>0.5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F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D5E1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0B1F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how do we know a semantic or RAG search system is any good? The graphic on the right is a ranked result list, the object that all retrieval metrics are computed over. Teal rows are relevant. Remote timestamp plan: 3 hours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timeline. Tell remote attendees the T+ stamps are on every slide kicker so they can re-join. Hands-on part needs a Linux VM with Python 3.9+; setup instructions are in the workshop markdown.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I sets shared vocabulary so that the evaluation parts make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evaluation must be able to point at the stage that failed. Every stage below has its own failure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cron example, it is also in the lab. 'run a script every night' shares no keywords with 'cron runs scheduled jobs'.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path builds the index; online path embeds the query and finds nearest neighbours. Cosine similarity compares direction, not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production systems combine both signals. Reciprocal rank fusion is a simple way to merge two ranked lists. Mention that each added stage must be evaluated.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= retrieval-augmented generation. The model is asked to answer using only the retrieved chunks, which can be cited.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a knob. Evaluation is how you know whether turning the knob helped. The lab changes retrieval method and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wrong answer is not always the LLM's fault. If the right chunk was never retrieved, no prompt can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roadmap for Part II: ranking metrics for the list, text-overlap and human metrics for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II is the theory core. Worked examples use one running ranked list and one running sentence pair, both reproduced in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evaluation uses a fixed test set; online uses real users. We start offline because it is repeatable and cheap.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example: ten ranked results, relevant chunks at ranks 1, 3 and 6. A fourth relevant chunk exists but was never retrieved. Top-5 contains 2 relevant.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Increasing k can only raise recall and usually lowers precision. F1 is the harmonic mean, punishing imbalance. Always report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 averages precision at each rank where a relevant item appears, divided by ALL relevant items. MAP averages AP over queries. MRR only cares about the first relevant hit. nDCG handles graded relevance.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single metric is right. For RAG the top few chunks feed the LLM, so recall@k of the retriever and precision at small k both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Humans create the relevance labels used by every metric before. Inter-annotator agreement (Cohen's kappa) tells us whether the labels are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real users realistic tasks. Measure outcomes, not just relevance. Side-by-side comparisons and A/B tests are the standard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running sentence pair. The same pair is computed by code in the lab (toy_metrics.py). Both metrics count overlapping n-grams but from different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Geometric mean of 1- to 4-gram precisions, times a brevity penalty so very short outputs do not win. A single zero n-gram precision makes BLEU-4 zero, so short sentences need smoothing.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sentence pair as the previous slide. ROUGE-N recall = overlapping n-grams ÷ n-grams in the reference. ROUGE-L uses the longest common subsequence so it respects word order without needing adjacency. Contrast how BLEU-4 collapses while ROUGE stays informative.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BLEU when precision of wording matters (translation, templated output); ROUGE when coverage of reference content matters (summaries, answers). Both need multiple references to be 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come from the lab run: extractive baseline copies the top chunk; LLM-style answers are paraphrased. Baseline wins ROUGE-2 even though its answers are less direct. Overlap is not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follows rag_eval_workshop.md on a Linux VM. Check that pip install worked before starting. Facilitator tip: ask people to paste their P@3 and ROUGE-L in chat as checkpoints.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to set up, five to inspect data. Remote attendees can paste the setup commands exactly as written in the markdown.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labels are created before systems are compared. Reference chunks answer 'what should be found'; reference answers answer 'what should be said'; generated texts are what the system actually 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retrieve.py, then eval_retrieval.py with --k 3 and --verbose. Point out q09, q11, q12 where AP drops. Numbers are for TF-IDF; embeddings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toy example first (5 min), then both systems. Then discuss why copy-paste wins ROUGE-2. Link back to the limits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one exercise per breakout or as homework. Details are in the markdown under each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from how to measure to what can go wrong with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'python': language, snake, comedy group. Annotators may disagree legitimately. Mitigate with graded labels, several references, intent-aware tests and clarifying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same words, different goals. Dynamicity: corpus, queries and models all change, so a frozen test set drifts out of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Pooling bias is a classic: if only the old system's top results were judged, a new system's different results look wrong. LLM judges often prefer longer or their own style of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from system-centric relevance to user outcomes. The RAG triad (context relevance, groundedness, answer relevance) is a popular automated way to decompose RAG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Explanations help users calibrate trust and help developers debug. Evaluate explanations too: are citations actually supporting the claim?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Ethics belongs in the evaluation plan itself: slice metrics by group and language, minimize personal data in logs, and weigh harm of hallucination by domain (health, legal, finance).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course. These six steps are the practical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questions in chat during the session and answer here. Prioritize lab blockers, then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takeaways, then share tools for further practice. Verify tool names against current docs before recommending specific 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0350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9768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743200"/>
            <a:ext cx="62179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480560"/>
            <a:ext cx="62179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Evaluating Semantic &amp; Generative Search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Evaluating Semantic &amp; Generative Search Systems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976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From Precision and Recall to BLEU, ROUGE and beyond. A 3-hour remote workshop with a hands-on lab.</a:t>
            </a:r>
            <a:endParaRPr lang="en-US" sz="1800" dirty="0"/>
          </a:p>
        </p:txBody>
      </p:sp>
      <p:sp>
        <p:nvSpPr>
          <p:cNvPr id="4" name="rankrow0"/>
          <p:cNvSpPr/>
          <p:nvPr/>
        </p:nvSpPr>
        <p:spPr>
          <a:xfrm>
            <a:off x="7406640" y="1234440"/>
            <a:ext cx="411480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234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c01  restart service at boot</a:t>
            </a:r>
            <a:endParaRPr lang="en-US" sz="1600" dirty="0"/>
          </a:p>
        </p:txBody>
      </p:sp>
      <p:sp>
        <p:nvSpPr>
          <p:cNvPr id="8" name="rankrow1"/>
          <p:cNvSpPr/>
          <p:nvPr/>
        </p:nvSpPr>
        <p:spPr>
          <a:xfrm>
            <a:off x="7406640" y="2148840"/>
            <a:ext cx="41148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148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c04  change file owner</a:t>
            </a:r>
            <a:endParaRPr lang="en-US" sz="1600" dirty="0"/>
          </a:p>
        </p:txBody>
      </p:sp>
      <p:sp>
        <p:nvSpPr>
          <p:cNvPr id="12" name="rankrow2"/>
          <p:cNvSpPr/>
          <p:nvPr/>
        </p:nvSpPr>
        <p:spPr>
          <a:xfrm>
            <a:off x="7406640" y="3063240"/>
            <a:ext cx="411480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0" y="32004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89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063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c02  follow logs live</a:t>
            </a:r>
            <a:endParaRPr lang="en-US" sz="1600" dirty="0"/>
          </a:p>
        </p:txBody>
      </p:sp>
      <p:sp>
        <p:nvSpPr>
          <p:cNvPr id="16" name="rankrow3"/>
          <p:cNvSpPr/>
          <p:nvPr/>
        </p:nvSpPr>
        <p:spPr>
          <a:xfrm>
            <a:off x="7406640" y="3977640"/>
            <a:ext cx="41148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0" y="4114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977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c11  search text with grep</a:t>
            </a:r>
            <a:endParaRPr lang="en-US" sz="1600" dirty="0"/>
          </a:p>
        </p:txBody>
      </p:sp>
      <p:sp>
        <p:nvSpPr>
          <p:cNvPr id="20" name="rankrow4"/>
          <p:cNvSpPr/>
          <p:nvPr/>
        </p:nvSpPr>
        <p:spPr>
          <a:xfrm>
            <a:off x="7406640" y="4892040"/>
            <a:ext cx="41148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0" y="5029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895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892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c09  kill a process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AGENDA · REMOTE TIMESTAMPS (T+ FROM START)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Today's plan: 3 hours, five parts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719072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7190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0:00 – 0:30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1673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Part I · Search Systems Refresher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20391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Semantic search (10) · Basics of generative search / RAG (20)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0" y="17190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30 min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548640" y="2496312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2615184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26151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0:30 – 1:30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256946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Part II · Standard Evaluation Methods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2926080" y="29352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 / R / F1 / MAP (20) · Manual evaluation (10) · BLEU &amp; ROUGE (30)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424160" y="261518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60 min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392424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685800" y="3511296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5800" y="35112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1:30 – 2:15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2926080" y="346557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Part III · Hands-On Lab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2926080" y="3831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Data preparation (10) · Retrieval eval (15) · Generation eval (20)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0424160" y="35112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45 min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548640" y="4288536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4407408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85800" y="44074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2:15 – 2:45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2926080" y="43616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Part IV · Challenges &amp; Emerging Trends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2926080" y="4727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Ambiguity, intent, bias (15) · User-centric, explainable, ethics (15)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424160" y="44074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30 min</a:t>
            </a:r>
            <a:endParaRPr lang="en-US" sz="1600" dirty="0"/>
          </a:p>
        </p:txBody>
      </p:sp>
      <p:sp>
        <p:nvSpPr>
          <p:cNvPr id="29" name="card"/>
          <p:cNvSpPr/>
          <p:nvPr/>
        </p:nvSpPr>
        <p:spPr>
          <a:xfrm>
            <a:off x="548640" y="5184648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30" name="Shape 27"/>
          <p:cNvSpPr/>
          <p:nvPr/>
        </p:nvSpPr>
        <p:spPr>
          <a:xfrm>
            <a:off x="685800" y="530352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85800" y="5303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2:45 – 3:00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2926080" y="5257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Part V · Doubt Resolution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2926080" y="5623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Open questions, recap, next steps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0424160" y="5303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15 min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Search Systems Refresher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480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T+0:00 – T+0:30 · 30 min</a:t>
            </a:r>
            <a:endParaRPr lang="en-US" sz="2000" dirty="0"/>
          </a:p>
        </p:txBody>
      </p:sp>
      <p:sp>
        <p:nvSpPr>
          <p:cNvPr id="5" name="item0"/>
          <p:cNvSpPr/>
          <p:nvPr/>
        </p:nvSpPr>
        <p:spPr>
          <a:xfrm>
            <a:off x="7680960" y="2377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09560" y="2505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Semantic search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10 min</a:t>
            </a:r>
            <a:endParaRPr lang="en-US" sz="1400" dirty="0"/>
          </a:p>
        </p:txBody>
      </p:sp>
      <p:sp>
        <p:nvSpPr>
          <p:cNvPr id="8" name="item1"/>
          <p:cNvSpPr/>
          <p:nvPr/>
        </p:nvSpPr>
        <p:spPr>
          <a:xfrm>
            <a:off x="7680960" y="3520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09560" y="3648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Generative search / RAG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20 min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 · SEMANTIC SEARCH REFRESHER · 0:00–0:10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search system is a pipeline, and each stage can fail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911096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Query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58568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User types words, often short and vague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14600" y="233172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card"/>
          <p:cNvSpPr/>
          <p:nvPr/>
        </p:nvSpPr>
        <p:spPr>
          <a:xfrm>
            <a:off x="2843784" y="1691640"/>
            <a:ext cx="1911096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953512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Understand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980944" y="2258568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Normalize, expand, detect intent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809744" y="233172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card"/>
          <p:cNvSpPr/>
          <p:nvPr/>
        </p:nvSpPr>
        <p:spPr>
          <a:xfrm>
            <a:off x="5138928" y="1691640"/>
            <a:ext cx="1911096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248656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Retrieve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276088" y="2258568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Find candidate documents or chunks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04888" y="233172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card"/>
          <p:cNvSpPr/>
          <p:nvPr/>
        </p:nvSpPr>
        <p:spPr>
          <a:xfrm>
            <a:off x="7434072" y="1691640"/>
            <a:ext cx="1911096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543800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Rank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571232" y="2258568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Order by estimated relevance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400032" y="233172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1" name="card"/>
          <p:cNvSpPr/>
          <p:nvPr/>
        </p:nvSpPr>
        <p:spPr>
          <a:xfrm>
            <a:off x="9729216" y="1691640"/>
            <a:ext cx="1911096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838944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Present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866376" y="2258568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Snippets, answer, citations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Typical failure at each stage</a:t>
            </a:r>
            <a:endParaRPr lang="en-US" sz="2000" dirty="0"/>
          </a:p>
        </p:txBody>
      </p:sp>
      <p:sp>
        <p:nvSpPr>
          <p:cNvPr id="25" name="card"/>
          <p:cNvSpPr/>
          <p:nvPr/>
        </p:nvSpPr>
        <p:spPr>
          <a:xfrm>
            <a:off x="548640" y="4114800"/>
            <a:ext cx="1911096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5800" y="4251960"/>
            <a:ext cx="1636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Ambiguous or underspecified input</a:t>
            </a:r>
            <a:endParaRPr lang="en-US" sz="1500" dirty="0"/>
          </a:p>
        </p:txBody>
      </p:sp>
      <p:sp>
        <p:nvSpPr>
          <p:cNvPr id="27" name="card"/>
          <p:cNvSpPr/>
          <p:nvPr/>
        </p:nvSpPr>
        <p:spPr>
          <a:xfrm>
            <a:off x="2843784" y="4114800"/>
            <a:ext cx="1911096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980944" y="4251960"/>
            <a:ext cx="1636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Wrong intent, missed synonyms</a:t>
            </a:r>
            <a:endParaRPr lang="en-US" sz="1500" dirty="0"/>
          </a:p>
        </p:txBody>
      </p:sp>
      <p:sp>
        <p:nvSpPr>
          <p:cNvPr id="29" name="card"/>
          <p:cNvSpPr/>
          <p:nvPr/>
        </p:nvSpPr>
        <p:spPr>
          <a:xfrm>
            <a:off x="5138928" y="4114800"/>
            <a:ext cx="1911096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276088" y="4251960"/>
            <a:ext cx="1636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Relevant item never retrieved (recall)</a:t>
            </a:r>
            <a:endParaRPr lang="en-US" sz="1500" dirty="0"/>
          </a:p>
        </p:txBody>
      </p:sp>
      <p:sp>
        <p:nvSpPr>
          <p:cNvPr id="31" name="card"/>
          <p:cNvSpPr/>
          <p:nvPr/>
        </p:nvSpPr>
        <p:spPr>
          <a:xfrm>
            <a:off x="7434072" y="4114800"/>
            <a:ext cx="1911096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571232" y="4251960"/>
            <a:ext cx="1636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Relevant item ranked too low (precision)</a:t>
            </a:r>
            <a:endParaRPr lang="en-US" sz="1500" dirty="0"/>
          </a:p>
        </p:txBody>
      </p:sp>
      <p:sp>
        <p:nvSpPr>
          <p:cNvPr id="33" name="card"/>
          <p:cNvSpPr/>
          <p:nvPr/>
        </p:nvSpPr>
        <p:spPr>
          <a:xfrm>
            <a:off x="9729216" y="4114800"/>
            <a:ext cx="1911096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866376" y="4251960"/>
            <a:ext cx="1636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Misleading snippet or wrong answer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 · SEMANTIC SEARCH REFRESHER · 0:00–0:10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Lexical matches words, semantic matches meaning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card"/>
          <p:cNvSpPr/>
          <p:nvPr/>
        </p:nvSpPr>
        <p:spPr>
          <a:xfrm>
            <a:off x="6245352" y="160020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Lexical (BM25, TF-IDF)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Counts shared terms, weights rare ones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Fast, exact, easy to explain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Great for IDs, names, error codes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Misses paraphrase and synonyms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519672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Semantic (dense embeddings)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19672" y="23774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Maps text to vectors, compares by angle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Finds paraphrases and related ideas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Works across wording and languages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Can retrieve plausible but wrong items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Query: "run a script every night"</a:t>
            </a:r>
            <a:endParaRPr lang="en-US" sz="1600" dirty="0"/>
          </a:p>
        </p:txBody>
      </p:sp>
      <p:sp>
        <p:nvSpPr>
          <p:cNvPr id="12" name="callout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544068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Chunk: "cron runs scheduled jobs"  →  lexical overlap: none  ·  semantic similarity: high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 · SEMANTIC SEARCH REFRESHER · 0:00–0:10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semantic search works: embed, index, compare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Offline: build the index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548640" y="2011680"/>
            <a:ext cx="344119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" y="2139696"/>
            <a:ext cx="3221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Chunk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78608"/>
            <a:ext cx="316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Split documents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44696" y="24688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card"/>
          <p:cNvSpPr/>
          <p:nvPr/>
        </p:nvSpPr>
        <p:spPr>
          <a:xfrm>
            <a:off x="4373880" y="2011680"/>
            <a:ext cx="344119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83608" y="2139696"/>
            <a:ext cx="3221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Embed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11040" y="2578608"/>
            <a:ext cx="316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Text → vector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869936" y="24688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card"/>
          <p:cNvSpPr/>
          <p:nvPr/>
        </p:nvSpPr>
        <p:spPr>
          <a:xfrm>
            <a:off x="8199120" y="2011680"/>
            <a:ext cx="344119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08848" y="2139696"/>
            <a:ext cx="3221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Index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336280" y="2578608"/>
            <a:ext cx="316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Vector store / ANN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Online: answer a query</a:t>
            </a:r>
            <a:endParaRPr lang="en-US" sz="1800" dirty="0"/>
          </a:p>
        </p:txBody>
      </p:sp>
      <p:sp>
        <p:nvSpPr>
          <p:cNvPr id="18" name="card"/>
          <p:cNvSpPr/>
          <p:nvPr/>
        </p:nvSpPr>
        <p:spPr>
          <a:xfrm>
            <a:off x="548640" y="3931920"/>
            <a:ext cx="344119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" y="4059936"/>
            <a:ext cx="3221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Embed query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4498848"/>
            <a:ext cx="316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Same model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044696" y="438912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2" name="card"/>
          <p:cNvSpPr/>
          <p:nvPr/>
        </p:nvSpPr>
        <p:spPr>
          <a:xfrm>
            <a:off x="4373880" y="3931920"/>
            <a:ext cx="344119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483608" y="4059936"/>
            <a:ext cx="3221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Nearest neighbours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511040" y="4498848"/>
            <a:ext cx="316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Top-k by similarity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869936" y="438912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6" name="card"/>
          <p:cNvSpPr/>
          <p:nvPr/>
        </p:nvSpPr>
        <p:spPr>
          <a:xfrm>
            <a:off x="8199120" y="3931920"/>
            <a:ext cx="344119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308848" y="4059936"/>
            <a:ext cx="3221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Ranked list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336280" y="4498848"/>
            <a:ext cx="316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Scores + chunk ids</a:t>
            </a:r>
            <a:endParaRPr lang="en-US" sz="1400" dirty="0"/>
          </a:p>
        </p:txBody>
      </p:sp>
      <p:sp>
        <p:nvSpPr>
          <p:cNvPr id="29" name="codebox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31520" y="557784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cos(q, d) = (q · d) / (‖q‖ · ‖d‖)      range −1 … 1, higher = closer in meaning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 · SEMANTIC SEARCH REFRESHER · 0:00–0:10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 practice: hybrid retrieval plus re-ranking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3514344" cy="420624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2024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Hybrid retrieval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60320"/>
            <a:ext cx="29657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Run BM25 and dense retrieval in parallel. Merge lists, for example with reciprocal rank fusion (RRF). Exact terms and paraphrases are both covered.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37304" y="1691640"/>
            <a:ext cx="3514344" cy="420624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4565904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6590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205984" y="192024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Re-ranking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11624" y="2560320"/>
            <a:ext cx="29657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 cross-encoder reads query and chunk together and rescores the top 50 to 100 candidates. Slower, but better precision at the top.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25968" y="1691640"/>
            <a:ext cx="3514344" cy="4206240"/>
          </a:xfrm>
          <a:prstGeom prst="roundRect">
            <a:avLst>
              <a:gd name="adj" fmla="val 3122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8354568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5456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994648" y="192024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Evaluate each stage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400288" y="2560320"/>
            <a:ext cx="29657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Measure recall of the first stage (did we fetch it?) and precision of the final top-k (did we show it?). One number hides which stage is weak.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 · BASICS OF GENERATIVE SEARCH / RAG · 0:10–0:30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RAG: retrieve evidence, then generate the answer from it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911096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Question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14600" y="22402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card"/>
          <p:cNvSpPr/>
          <p:nvPr/>
        </p:nvSpPr>
        <p:spPr>
          <a:xfrm>
            <a:off x="2843784" y="1691640"/>
            <a:ext cx="1911096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3512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Retriever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980944" y="2258568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top-k chunks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09744" y="22402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card"/>
          <p:cNvSpPr/>
          <p:nvPr/>
        </p:nvSpPr>
        <p:spPr>
          <a:xfrm>
            <a:off x="5138928" y="1691640"/>
            <a:ext cx="1911096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248656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Prompt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276088" y="2258568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question + evidence + rules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04888" y="22402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card"/>
          <p:cNvSpPr/>
          <p:nvPr/>
        </p:nvSpPr>
        <p:spPr>
          <a:xfrm>
            <a:off x="7434072" y="1691640"/>
            <a:ext cx="1911096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543800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LLM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571232" y="2258568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generates answer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400032" y="22402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0" name="card"/>
          <p:cNvSpPr/>
          <p:nvPr/>
        </p:nvSpPr>
        <p:spPr>
          <a:xfrm>
            <a:off x="9729216" y="1691640"/>
            <a:ext cx="1911096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838944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Answer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866376" y="2258568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with citations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3474720"/>
            <a:ext cx="2601468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4" name="badge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77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417320" y="3703320"/>
            <a:ext cx="1504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Fresher knowledge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4343400"/>
            <a:ext cx="20528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Update the index, not the model.</a:t>
            </a:r>
            <a:endParaRPr lang="en-US" sz="1600" dirty="0"/>
          </a:p>
        </p:txBody>
      </p:sp>
      <p:sp>
        <p:nvSpPr>
          <p:cNvPr id="28" name="card"/>
          <p:cNvSpPr/>
          <p:nvPr/>
        </p:nvSpPr>
        <p:spPr>
          <a:xfrm>
            <a:off x="3378708" y="3474720"/>
            <a:ext cx="2601468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9" name="badge"/>
          <p:cNvSpPr/>
          <p:nvPr/>
        </p:nvSpPr>
        <p:spPr>
          <a:xfrm>
            <a:off x="3607308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60730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247388" y="3703320"/>
            <a:ext cx="1504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Grounded answers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3653028" y="4343400"/>
            <a:ext cx="20528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Evidence is in the prompt and can be cited.</a:t>
            </a:r>
            <a:endParaRPr lang="en-US" sz="1600" dirty="0"/>
          </a:p>
        </p:txBody>
      </p:sp>
      <p:sp>
        <p:nvSpPr>
          <p:cNvPr id="33" name="card"/>
          <p:cNvSpPr/>
          <p:nvPr/>
        </p:nvSpPr>
        <p:spPr>
          <a:xfrm>
            <a:off x="6208776" y="3474720"/>
            <a:ext cx="2601468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34" name="badge"/>
          <p:cNvSpPr/>
          <p:nvPr/>
        </p:nvSpPr>
        <p:spPr>
          <a:xfrm>
            <a:off x="6437376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437376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7077456" y="3703320"/>
            <a:ext cx="1504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Private data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6483096" y="4343400"/>
            <a:ext cx="20528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Use internal documents without retraining.</a:t>
            </a:r>
            <a:endParaRPr lang="en-US" sz="1600" dirty="0"/>
          </a:p>
        </p:txBody>
      </p:sp>
      <p:sp>
        <p:nvSpPr>
          <p:cNvPr id="38" name="card"/>
          <p:cNvSpPr/>
          <p:nvPr/>
        </p:nvSpPr>
        <p:spPr>
          <a:xfrm>
            <a:off x="9038844" y="3474720"/>
            <a:ext cx="2601468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39" name="badge"/>
          <p:cNvSpPr/>
          <p:nvPr/>
        </p:nvSpPr>
        <p:spPr>
          <a:xfrm>
            <a:off x="9267444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9267444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9907524" y="3703320"/>
            <a:ext cx="1504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New risk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9313164" y="4343400"/>
            <a:ext cx="20528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Fluent text can hide wrong or unsupported claims.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 · BASICS OF GENERATIVE SEARCH / RAG · 0:10–0:30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design choices that move your evaluation numbers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3514344" cy="212598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8745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Chunking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14600"/>
            <a:ext cx="296570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Size, overlap, structure. Too big dilutes, too small loses context.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4337304" y="1645920"/>
            <a:ext cx="3514344" cy="212598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4565904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6590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205984" y="18745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Embedding model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611624" y="2514600"/>
            <a:ext cx="296570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Domain fit and language coverage drive recall.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8125968" y="1645920"/>
            <a:ext cx="3514344" cy="212598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8354568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545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994648" y="18745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k and re-ranking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400288" y="2514600"/>
            <a:ext cx="296570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More chunks raise recall but add noise and cost.</a:t>
            </a:r>
            <a:endParaRPr lang="en-US" sz="1700" dirty="0"/>
          </a:p>
        </p:txBody>
      </p:sp>
      <p:sp>
        <p:nvSpPr>
          <p:cNvPr id="20" name="card"/>
          <p:cNvSpPr/>
          <p:nvPr/>
        </p:nvSpPr>
        <p:spPr>
          <a:xfrm>
            <a:off x="548640" y="4046220"/>
            <a:ext cx="3514344" cy="212598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1" name="badge"/>
          <p:cNvSpPr/>
          <p:nvPr/>
        </p:nvSpPr>
        <p:spPr>
          <a:xfrm>
            <a:off x="777240" y="42748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4274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2748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Prompt rules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914900"/>
            <a:ext cx="296570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"Use only the context", cite sources, say when unsure.</a:t>
            </a:r>
            <a:endParaRPr lang="en-US" sz="1700" dirty="0"/>
          </a:p>
        </p:txBody>
      </p:sp>
      <p:sp>
        <p:nvSpPr>
          <p:cNvPr id="25" name="card"/>
          <p:cNvSpPr/>
          <p:nvPr/>
        </p:nvSpPr>
        <p:spPr>
          <a:xfrm>
            <a:off x="4337304" y="4046220"/>
            <a:ext cx="3514344" cy="212598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6" name="badge"/>
          <p:cNvSpPr/>
          <p:nvPr/>
        </p:nvSpPr>
        <p:spPr>
          <a:xfrm>
            <a:off x="4565904" y="42748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65904" y="4274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205984" y="42748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Generator model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4611624" y="4914900"/>
            <a:ext cx="296570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Size, decoding temperature, context length.</a:t>
            </a:r>
            <a:endParaRPr lang="en-US" sz="1700" dirty="0"/>
          </a:p>
        </p:txBody>
      </p:sp>
      <p:sp>
        <p:nvSpPr>
          <p:cNvPr id="30" name="card"/>
          <p:cNvSpPr/>
          <p:nvPr/>
        </p:nvSpPr>
        <p:spPr>
          <a:xfrm>
            <a:off x="8125968" y="4046220"/>
            <a:ext cx="3514344" cy="212598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1" name="badge"/>
          <p:cNvSpPr/>
          <p:nvPr/>
        </p:nvSpPr>
        <p:spPr>
          <a:xfrm>
            <a:off x="8354568" y="42748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354568" y="4274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994648" y="42748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Guardrails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8400288" y="4914900"/>
            <a:ext cx="296570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Abstain when evidence is weak; filter unsafe output.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 · BASICS OF GENERATIVE SEARCH / RAG · 0:10–0:30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RAG fails: diagnose retrieval first, then generation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6" name="card"/>
          <p:cNvSpPr/>
          <p:nvPr/>
        </p:nvSpPr>
        <p:spPr>
          <a:xfrm>
            <a:off x="6245352" y="160020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Retrieval failures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Relevant chunk not in top-k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Noisy or off-topic chunks included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Stale or missing documents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Answer split across several chunks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519672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Generation failures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19672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Hallucinated or unsupported claims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Ignores the retrieved evidence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Incomplete or overly verbose answer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Wrong citation or format</a:t>
            </a:r>
            <a:endParaRPr lang="en-US" sz="1800" dirty="0"/>
          </a:p>
        </p:txBody>
      </p:sp>
      <p:sp>
        <p:nvSpPr>
          <p:cNvPr id="11" name="callout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525780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Diagnostic question: was the evidence retrieved? If no → fix retrieval. If yes → fix generation.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 · BRIDGE TO PART II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Search and generative search are judged differently</a:t>
            </a:r>
            <a:endParaRPr lang="en-US" sz="30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Semantic search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Generative search (RAG)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Ranked list of documents or chunks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Written answer, often with sources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Unit judged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Each result: relevant or not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Whole answer: correct, grounded, complete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Ground truth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Relevance labels per query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Reference answer or human rubric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Typical metrics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Precision, Recall, F1, MAP, MRR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BLEU, ROUGE, human rating, groundedness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Main risk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Missing or mis-ranked results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Fluent but wrong or unsupported text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Standard Methods for Evaluating Search Systems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480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T+0:30 – T+1:30 · 60 min</a:t>
            </a:r>
            <a:endParaRPr lang="en-US" sz="2000" dirty="0"/>
          </a:p>
        </p:txBody>
      </p:sp>
      <p:sp>
        <p:nvSpPr>
          <p:cNvPr id="5" name="item0"/>
          <p:cNvSpPr/>
          <p:nvPr/>
        </p:nvSpPr>
        <p:spPr>
          <a:xfrm>
            <a:off x="7680960" y="2377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09560" y="2505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Relevance metrics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P, R, F1, MAP · 20 min</a:t>
            </a:r>
            <a:endParaRPr lang="en-US" sz="1400" dirty="0"/>
          </a:p>
        </p:txBody>
      </p:sp>
      <p:sp>
        <p:nvSpPr>
          <p:cNvPr id="8" name="item1"/>
          <p:cNvSpPr/>
          <p:nvPr/>
        </p:nvSpPr>
        <p:spPr>
          <a:xfrm>
            <a:off x="7680960" y="3520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09560" y="3648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Manual / task-oriented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10 min</a:t>
            </a:r>
            <a:endParaRPr lang="en-US" sz="1400" dirty="0"/>
          </a:p>
        </p:txBody>
      </p:sp>
      <p:sp>
        <p:nvSpPr>
          <p:cNvPr id="11" name="item2"/>
          <p:cNvSpPr/>
          <p:nvPr/>
        </p:nvSpPr>
        <p:spPr>
          <a:xfrm>
            <a:off x="7680960" y="4663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09560" y="4791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Generation metrics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5212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BLEU, ROUGE · 30 min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 · RELEVANCE METRICS FOR RETRIEVAL · 0:30–0:50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Evaluate in two layers: retrieval, then generation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3441192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865376"/>
            <a:ext cx="3221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Retrieval layer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04288"/>
            <a:ext cx="3166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Judged against relevance labels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044696" y="23088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card"/>
          <p:cNvSpPr/>
          <p:nvPr/>
        </p:nvSpPr>
        <p:spPr>
          <a:xfrm>
            <a:off x="4373880" y="1737360"/>
            <a:ext cx="3441192" cy="141732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3608" y="1865376"/>
            <a:ext cx="3221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Generation layer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11040" y="2304288"/>
            <a:ext cx="3166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Judged against reference answers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69936" y="23088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card"/>
          <p:cNvSpPr/>
          <p:nvPr/>
        </p:nvSpPr>
        <p:spPr>
          <a:xfrm>
            <a:off x="8199120" y="1737360"/>
            <a:ext cx="3441192" cy="1417320"/>
          </a:xfrm>
          <a:prstGeom prst="roundRect">
            <a:avLst>
              <a:gd name="adj" fmla="val 7742"/>
            </a:avLst>
          </a:prstGeom>
          <a:solidFill>
            <a:schemeClr val="accent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08848" y="1865376"/>
            <a:ext cx="3221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End-to-end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336280" y="2304288"/>
            <a:ext cx="3166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Judged by humans and users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3520440"/>
            <a:ext cx="5408676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7" name="badge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749040"/>
            <a:ext cx="4311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Offline evaluation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389120"/>
            <a:ext cx="48600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Test collection: queries + labelled relevant chunks + reference answers. Repeatable, fast, good for regression tests.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6231636" y="3520440"/>
            <a:ext cx="5408676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2" name="badge"/>
          <p:cNvSpPr/>
          <p:nvPr/>
        </p:nvSpPr>
        <p:spPr>
          <a:xfrm>
            <a:off x="6460236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60236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100316" y="3749040"/>
            <a:ext cx="4311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Online evaluation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505956" y="4389120"/>
            <a:ext cx="48600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Real users: clicks, task success, A/B tests. Realistic but slower, noisier and needs traffic.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 · RELEVANCE METRICS FOR RETRIEVAL · 0:30–0:50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Precision and recall measure two sides of the same list</a:t>
            </a:r>
            <a:endParaRPr lang="en-US" sz="3000" dirty="0"/>
          </a:p>
        </p:txBody>
      </p:sp>
      <p:sp>
        <p:nvSpPr>
          <p:cNvPr id="5" name="rank1"/>
          <p:cNvSpPr/>
          <p:nvPr/>
        </p:nvSpPr>
        <p:spPr>
          <a:xfrm>
            <a:off x="777240" y="178308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rank2"/>
          <p:cNvSpPr/>
          <p:nvPr/>
        </p:nvSpPr>
        <p:spPr>
          <a:xfrm>
            <a:off x="1563624" y="178308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563624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rank3"/>
          <p:cNvSpPr/>
          <p:nvPr/>
        </p:nvSpPr>
        <p:spPr>
          <a:xfrm>
            <a:off x="2350008" y="178308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50008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rank4"/>
          <p:cNvSpPr/>
          <p:nvPr/>
        </p:nvSpPr>
        <p:spPr>
          <a:xfrm>
            <a:off x="3136392" y="178308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36392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3" name="rank5"/>
          <p:cNvSpPr/>
          <p:nvPr/>
        </p:nvSpPr>
        <p:spPr>
          <a:xfrm>
            <a:off x="3922776" y="178308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22776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5" name="rank6"/>
          <p:cNvSpPr/>
          <p:nvPr/>
        </p:nvSpPr>
        <p:spPr>
          <a:xfrm>
            <a:off x="4709160" y="178308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0916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17" name="rank7"/>
          <p:cNvSpPr/>
          <p:nvPr/>
        </p:nvSpPr>
        <p:spPr>
          <a:xfrm>
            <a:off x="5495544" y="178308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95544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19" name="rank8"/>
          <p:cNvSpPr/>
          <p:nvPr/>
        </p:nvSpPr>
        <p:spPr>
          <a:xfrm>
            <a:off x="6281928" y="178308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81928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8</a:t>
            </a:r>
            <a:endParaRPr lang="en-US" sz="1800" dirty="0"/>
          </a:p>
        </p:txBody>
      </p:sp>
      <p:sp>
        <p:nvSpPr>
          <p:cNvPr id="21" name="rank9"/>
          <p:cNvSpPr/>
          <p:nvPr/>
        </p:nvSpPr>
        <p:spPr>
          <a:xfrm>
            <a:off x="7068312" y="178308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68312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9</a:t>
            </a:r>
            <a:endParaRPr lang="en-US" sz="1800" dirty="0"/>
          </a:p>
        </p:txBody>
      </p:sp>
      <p:sp>
        <p:nvSpPr>
          <p:cNvPr id="23" name="rank10"/>
          <p:cNvSpPr/>
          <p:nvPr/>
        </p:nvSpPr>
        <p:spPr>
          <a:xfrm>
            <a:off x="7854696" y="178308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54696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10</a:t>
            </a:r>
            <a:endParaRPr lang="en-US" sz="1800" dirty="0"/>
          </a:p>
        </p:txBody>
      </p:sp>
      <p:sp>
        <p:nvSpPr>
          <p:cNvPr id="25" name="topk"/>
          <p:cNvSpPr/>
          <p:nvPr/>
        </p:nvSpPr>
        <p:spPr>
          <a:xfrm>
            <a:off x="685800" y="1691640"/>
            <a:ext cx="3986784" cy="841248"/>
          </a:xfrm>
          <a:prstGeom prst="roundRect">
            <a:avLst>
              <a:gd name="adj" fmla="val 10870"/>
            </a:avLst>
          </a:prstGeom>
          <a:ln w="25400">
            <a:solidFill>
              <a:schemeClr val="accent3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685800" y="256946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top-5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3017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Teal = relevant. 4 relevant chunks exist in total; one (d11) was not retrieved at all.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548640" y="3611880"/>
            <a:ext cx="53949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9" name="card"/>
          <p:cNvSpPr/>
          <p:nvPr/>
        </p:nvSpPr>
        <p:spPr>
          <a:xfrm>
            <a:off x="6245352" y="3611880"/>
            <a:ext cx="53949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2296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Precision@k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 in top-k ÷ k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How clean is what we show?  P@5 = 2/5 = 0.40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6519672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Recall@k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6519672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 in top-k ÷ all relevant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6519672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How much did we find?  R@5 = 2/4 = 0.50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 · RELEVANCE METRICS FOR RETRIEVAL · 0:30–0:50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F1 balances them, and the cut-off k always matters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4206240" cy="44348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F1@k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 · R ÷ (P + R)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Harmonic mean: low if either P or R is low.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822960" y="3749040"/>
            <a:ext cx="365760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3886200"/>
            <a:ext cx="36576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0.444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627778"/>
            <a:ext cx="338328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F1@5 for the running example (P = 0.40, R = 0.50)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349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Report k with every score.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029200" y="1645920"/>
          <a:ext cx="6611112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 · RELEVANCE METRICS FOR RETRIEVAL · 0:30–0:50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Rank-aware metrics reward putting relevant items first</a:t>
            </a:r>
            <a:endParaRPr lang="en-US" sz="3000" dirty="0"/>
          </a:p>
        </p:txBody>
      </p:sp>
      <p:sp>
        <p:nvSpPr>
          <p:cNvPr id="5" name="rank1"/>
          <p:cNvSpPr/>
          <p:nvPr/>
        </p:nvSpPr>
        <p:spPr>
          <a:xfrm>
            <a:off x="777240" y="173736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rank2"/>
          <p:cNvSpPr/>
          <p:nvPr/>
        </p:nvSpPr>
        <p:spPr>
          <a:xfrm>
            <a:off x="1563624" y="173736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563624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rank3"/>
          <p:cNvSpPr/>
          <p:nvPr/>
        </p:nvSpPr>
        <p:spPr>
          <a:xfrm>
            <a:off x="2350008" y="173736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50008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rank4"/>
          <p:cNvSpPr/>
          <p:nvPr/>
        </p:nvSpPr>
        <p:spPr>
          <a:xfrm>
            <a:off x="3136392" y="173736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36392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3" name="rank5"/>
          <p:cNvSpPr/>
          <p:nvPr/>
        </p:nvSpPr>
        <p:spPr>
          <a:xfrm>
            <a:off x="3922776" y="173736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22776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5" name="rank6"/>
          <p:cNvSpPr/>
          <p:nvPr/>
        </p:nvSpPr>
        <p:spPr>
          <a:xfrm>
            <a:off x="4709160" y="173736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09160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17" name="rank7"/>
          <p:cNvSpPr/>
          <p:nvPr/>
        </p:nvSpPr>
        <p:spPr>
          <a:xfrm>
            <a:off x="5495544" y="173736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95544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19" name="rank8"/>
          <p:cNvSpPr/>
          <p:nvPr/>
        </p:nvSpPr>
        <p:spPr>
          <a:xfrm>
            <a:off x="6281928" y="173736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81928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8</a:t>
            </a:r>
            <a:endParaRPr lang="en-US" sz="1800" dirty="0"/>
          </a:p>
        </p:txBody>
      </p:sp>
      <p:sp>
        <p:nvSpPr>
          <p:cNvPr id="21" name="rank9"/>
          <p:cNvSpPr/>
          <p:nvPr/>
        </p:nvSpPr>
        <p:spPr>
          <a:xfrm>
            <a:off x="7068312" y="173736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68312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9</a:t>
            </a:r>
            <a:endParaRPr lang="en-US" sz="1800" dirty="0"/>
          </a:p>
        </p:txBody>
      </p:sp>
      <p:sp>
        <p:nvSpPr>
          <p:cNvPr id="23" name="rank10"/>
          <p:cNvSpPr/>
          <p:nvPr/>
        </p:nvSpPr>
        <p:spPr>
          <a:xfrm>
            <a:off x="7854696" y="1737360"/>
            <a:ext cx="65836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54696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10</a:t>
            </a:r>
            <a:endParaRPr lang="en-US" sz="1800" dirty="0"/>
          </a:p>
        </p:txBody>
      </p:sp>
      <p:sp>
        <p:nvSpPr>
          <p:cNvPr id="25" name="codebox"/>
          <p:cNvSpPr/>
          <p:nvPr/>
        </p:nvSpPr>
        <p:spPr>
          <a:xfrm>
            <a:off x="548640" y="278892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31520" y="2926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 = (P@1 + P@3 + P@6) ÷ 4 relevant = (1/1 + 2/3 + 3/6) ÷ 4 = 0.542</a:t>
            </a:r>
            <a:endParaRPr lang="en-US" sz="1800" dirty="0"/>
          </a:p>
        </p:txBody>
      </p:sp>
      <p:sp>
        <p:nvSpPr>
          <p:cNvPr id="27" name="card"/>
          <p:cNvSpPr/>
          <p:nvPr/>
        </p:nvSpPr>
        <p:spPr>
          <a:xfrm>
            <a:off x="548640" y="3703320"/>
            <a:ext cx="3514344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8" name="badge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417320" y="39319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AP and MAP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4572000"/>
            <a:ext cx="2965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AP rewards early hits and penalizes misses. MAP is the mean of AP over all queries.</a:t>
            </a:r>
            <a:endParaRPr lang="en-US" sz="1700" dirty="0"/>
          </a:p>
        </p:txBody>
      </p:sp>
      <p:sp>
        <p:nvSpPr>
          <p:cNvPr id="32" name="card"/>
          <p:cNvSpPr/>
          <p:nvPr/>
        </p:nvSpPr>
        <p:spPr>
          <a:xfrm>
            <a:off x="4337304" y="3703320"/>
            <a:ext cx="3514344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33" name="badge"/>
          <p:cNvSpPr/>
          <p:nvPr/>
        </p:nvSpPr>
        <p:spPr>
          <a:xfrm>
            <a:off x="4565904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565904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RR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5205984" y="39319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MRR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4611624" y="4572000"/>
            <a:ext cx="2965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Mean of 1 ÷ rank of the first relevant result. Here 1/1 = 1.0. Ideal for single-answer tasks.</a:t>
            </a:r>
            <a:endParaRPr lang="en-US" sz="1700" dirty="0"/>
          </a:p>
        </p:txBody>
      </p:sp>
      <p:sp>
        <p:nvSpPr>
          <p:cNvPr id="37" name="card"/>
          <p:cNvSpPr/>
          <p:nvPr/>
        </p:nvSpPr>
        <p:spPr>
          <a:xfrm>
            <a:off x="8125968" y="3703320"/>
            <a:ext cx="3514344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38" name="badge"/>
          <p:cNvSpPr/>
          <p:nvPr/>
        </p:nvSpPr>
        <p:spPr>
          <a:xfrm>
            <a:off x="8354568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354568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nD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8994648" y="39319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nDCG (graded)</a:t>
            </a:r>
            <a:endParaRPr lang="en-US" sz="1900" dirty="0"/>
          </a:p>
        </p:txBody>
      </p:sp>
      <p:sp>
        <p:nvSpPr>
          <p:cNvPr id="41" name="Text 38"/>
          <p:cNvSpPr txBox="1"/>
          <p:nvPr/>
        </p:nvSpPr>
        <p:spPr>
          <a:xfrm>
            <a:off x="8400288" y="4572000"/>
            <a:ext cx="2965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Uses labels like 0 to 3 and discounts lower ranks. Use it when relevance is not binary.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 · RELEVANCE METRICS FOR RETRIEVAL · 0:30–0:50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Choose the metric that matches the user's goal</a:t>
            </a:r>
            <a:endParaRPr lang="en-US" sz="30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743200"/>
                <a:gridCol w="405079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If the user needs…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Use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One correct answer (QA, RAG top-1)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MRR, Precision@1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Only the first hit matters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Everything relevant (legal, compliance)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Recall@k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 missed item is costly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clean, browsable list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Precision@k, MAP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Every shown item counts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Graded usefulness of results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nDCG@k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Highly relevant items first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One summary number for tuning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F1@k or MAP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Balances or averages over ranks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 · MANUAL / TASK-ORIENTED EVALUATION · 0:50–1:00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Manual evaluation: humans judge what metrics cannot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911096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Sample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58568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Pick representative queries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14600" y="23088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card"/>
          <p:cNvSpPr/>
          <p:nvPr/>
        </p:nvSpPr>
        <p:spPr>
          <a:xfrm>
            <a:off x="2843784" y="1691640"/>
            <a:ext cx="1911096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953512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Guidelines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980944" y="2258568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Define each rating level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809744" y="23088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card"/>
          <p:cNvSpPr/>
          <p:nvPr/>
        </p:nvSpPr>
        <p:spPr>
          <a:xfrm>
            <a:off x="5138928" y="1691640"/>
            <a:ext cx="1911096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248656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Judge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276088" y="2258568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2+ raters per item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04888" y="23088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card"/>
          <p:cNvSpPr/>
          <p:nvPr/>
        </p:nvSpPr>
        <p:spPr>
          <a:xfrm>
            <a:off x="7434072" y="1691640"/>
            <a:ext cx="1911096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543800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Agreement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571232" y="2258568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Cohen's κ, resolve conflicts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400032" y="23088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1" name="card"/>
          <p:cNvSpPr/>
          <p:nvPr/>
        </p:nvSpPr>
        <p:spPr>
          <a:xfrm>
            <a:off x="9729216" y="1691640"/>
            <a:ext cx="1911096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838944" y="18196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Analyse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866376" y="2258568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 query type, find patterns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 simple answer rubric (rate 1 to 5)</a:t>
            </a:r>
            <a:endParaRPr lang="en-US" sz="2000" dirty="0"/>
          </a:p>
        </p:txBody>
      </p:sp>
      <p:sp>
        <p:nvSpPr>
          <p:cNvPr id="25" name="card"/>
          <p:cNvSpPr/>
          <p:nvPr/>
        </p:nvSpPr>
        <p:spPr>
          <a:xfrm>
            <a:off x="548640" y="4023360"/>
            <a:ext cx="260146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6" name="badge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251960"/>
            <a:ext cx="1504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Correctness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4892040"/>
            <a:ext cx="20528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Is it factually right?</a:t>
            </a:r>
            <a:endParaRPr lang="en-US" sz="1700" dirty="0"/>
          </a:p>
        </p:txBody>
      </p:sp>
      <p:sp>
        <p:nvSpPr>
          <p:cNvPr id="30" name="card"/>
          <p:cNvSpPr/>
          <p:nvPr/>
        </p:nvSpPr>
        <p:spPr>
          <a:xfrm>
            <a:off x="3378708" y="4023360"/>
            <a:ext cx="260146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1" name="badge"/>
          <p:cNvSpPr/>
          <p:nvPr/>
        </p:nvSpPr>
        <p:spPr>
          <a:xfrm>
            <a:off x="3607308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60730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4247388" y="4251960"/>
            <a:ext cx="1504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Groundedness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3653028" y="4892040"/>
            <a:ext cx="20528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Supported by the retrieved text?</a:t>
            </a:r>
            <a:endParaRPr lang="en-US" sz="1700" dirty="0"/>
          </a:p>
        </p:txBody>
      </p:sp>
      <p:sp>
        <p:nvSpPr>
          <p:cNvPr id="35" name="card"/>
          <p:cNvSpPr/>
          <p:nvPr/>
        </p:nvSpPr>
        <p:spPr>
          <a:xfrm>
            <a:off x="6208776" y="4023360"/>
            <a:ext cx="260146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6" name="badge"/>
          <p:cNvSpPr/>
          <p:nvPr/>
        </p:nvSpPr>
        <p:spPr>
          <a:xfrm>
            <a:off x="6437376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437376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7077456" y="4251960"/>
            <a:ext cx="1504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Completeness</a:t>
            </a:r>
            <a:endParaRPr lang="en-US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6483096" y="4892040"/>
            <a:ext cx="20528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Covers the whole question?</a:t>
            </a:r>
            <a:endParaRPr lang="en-US" sz="1700" dirty="0"/>
          </a:p>
        </p:txBody>
      </p:sp>
      <p:sp>
        <p:nvSpPr>
          <p:cNvPr id="40" name="card"/>
          <p:cNvSpPr/>
          <p:nvPr/>
        </p:nvSpPr>
        <p:spPr>
          <a:xfrm>
            <a:off x="9038844" y="4023360"/>
            <a:ext cx="260146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1" name="badge"/>
          <p:cNvSpPr/>
          <p:nvPr/>
        </p:nvSpPr>
        <p:spPr>
          <a:xfrm>
            <a:off x="9267444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267444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9907524" y="4251960"/>
            <a:ext cx="1504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Clarity</a:t>
            </a:r>
            <a:endParaRPr lang="en-US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9313164" y="4892040"/>
            <a:ext cx="20528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Concise and readable?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 · MANUAL / TASK-ORIENTED EVALUATION · 0:50–1:00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Task-oriented evaluation: did the user finish the job?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26060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55418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 completion rate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3756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26060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655418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 to a correct answer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12648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26480" y="1828800"/>
            <a:ext cx="26060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2655418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Reformulations and clicks per task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915400" y="1691640"/>
            <a:ext cx="272491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915400" y="1828800"/>
            <a:ext cx="272491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2655418"/>
            <a:ext cx="2450592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Satisfaction (CSAT, thumbs)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3611880"/>
            <a:ext cx="3514344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8" name="badge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84048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Side-by-side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480560"/>
            <a:ext cx="2965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Raters see two systems' answers for the same query and pick the better one. Fast and sensitive.</a:t>
            </a:r>
            <a:endParaRPr lang="en-US" sz="1700" dirty="0"/>
          </a:p>
        </p:txBody>
      </p:sp>
      <p:sp>
        <p:nvSpPr>
          <p:cNvPr id="22" name="card"/>
          <p:cNvSpPr/>
          <p:nvPr/>
        </p:nvSpPr>
        <p:spPr>
          <a:xfrm>
            <a:off x="4337304" y="3611880"/>
            <a:ext cx="3514344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3" name="badge"/>
          <p:cNvSpPr/>
          <p:nvPr/>
        </p:nvSpPr>
        <p:spPr>
          <a:xfrm>
            <a:off x="4565904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65904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205984" y="384048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A/B testing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4611624" y="4480560"/>
            <a:ext cx="2965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Split live traffic between versions and compare task success and engagement. Needs enough traffic.</a:t>
            </a:r>
            <a:endParaRPr lang="en-US" sz="1700" dirty="0"/>
          </a:p>
        </p:txBody>
      </p:sp>
      <p:sp>
        <p:nvSpPr>
          <p:cNvPr id="27" name="card"/>
          <p:cNvSpPr/>
          <p:nvPr/>
        </p:nvSpPr>
        <p:spPr>
          <a:xfrm>
            <a:off x="8125968" y="3611880"/>
            <a:ext cx="3514344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8" name="badge"/>
          <p:cNvSpPr/>
          <p:nvPr/>
        </p:nvSpPr>
        <p:spPr>
          <a:xfrm>
            <a:off x="8354568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35456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994648" y="384048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Pros and cons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8400288" y="4480560"/>
            <a:ext cx="2965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Most realistic signal, but costly, slow and subjective. Use a small, well-designed sample.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 · METRICS FOR GENERATION · 1:00–1:30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Generation metrics compare text with a reference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6" name="card"/>
          <p:cNvSpPr/>
          <p:nvPr/>
        </p:nvSpPr>
        <p:spPr>
          <a:xfrm>
            <a:off x="6245352" y="164592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Reference (human answer)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94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 sat on the mat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519672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Generated (system answer)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19672" y="2194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 is on the mat</a:t>
            </a:r>
            <a:endParaRPr lang="en-US" sz="2600" dirty="0"/>
          </a:p>
        </p:txBody>
      </p:sp>
      <p:sp>
        <p:nvSpPr>
          <p:cNvPr id="11" name="card"/>
          <p:cNvSpPr/>
          <p:nvPr/>
        </p:nvSpPr>
        <p:spPr>
          <a:xfrm>
            <a:off x="548640" y="3429000"/>
            <a:ext cx="5408676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badge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3657600"/>
            <a:ext cx="4311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BLEU: precision view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297680"/>
            <a:ext cx="4860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Of the n-grams the system produced, how many appear in the reference? Born in machine translation.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6231636" y="3429000"/>
            <a:ext cx="5408676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badge"/>
          <p:cNvSpPr/>
          <p:nvPr/>
        </p:nvSpPr>
        <p:spPr>
          <a:xfrm>
            <a:off x="6460236" y="3657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60236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100316" y="3657600"/>
            <a:ext cx="4311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ROUGE: recall view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505956" y="4297680"/>
            <a:ext cx="4860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Of the n-grams in the reference, how many did the system recover? Born in summarization.</a:t>
            </a:r>
            <a:endParaRPr lang="en-US" sz="1700" dirty="0"/>
          </a:p>
        </p:txBody>
      </p:sp>
      <p:sp>
        <p:nvSpPr>
          <p:cNvPr id="21" name="callout"/>
          <p:cNvSpPr/>
          <p:nvPr/>
        </p:nvSpPr>
        <p:spPr>
          <a:xfrm>
            <a:off x="548640" y="5486400"/>
            <a:ext cx="11091672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557784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Both reward word overlap with the reference, not meaning.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 · METRICS FOR GENERATION · 1:00–1:30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BLEU: n-gram precision with a brevity penalty</a:t>
            </a:r>
            <a:endParaRPr lang="en-US" sz="30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766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657600"/>
                <a:gridCol w="1828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n-gram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Matches in generated text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Precision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1-gram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the, cat, on, the, mat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 / 6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2-gram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 cat · on the · the mat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 / 5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3-gram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 the mat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/ 4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4-gram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 / 3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odebox"/>
          <p:cNvSpPr/>
          <p:nvPr/>
        </p:nvSpPr>
        <p:spPr>
          <a:xfrm>
            <a:off x="548640" y="5029200"/>
            <a:ext cx="676656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31520" y="5166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BLEU = BP · exp( Σ wₙ · log pₙ )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7680960" y="1645920"/>
            <a:ext cx="395935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680960" y="1783080"/>
            <a:ext cx="39593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2893162"/>
            <a:ext cx="36850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BLEU-4 without smoothing (4-gram precision is zero)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7680960" y="3886200"/>
            <a:ext cx="395935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680960" y="4023360"/>
            <a:ext cx="39593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5133442"/>
            <a:ext cx="36850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BLEU with smoothing (sacrebleu, effective order)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 · METRICS FOR GENERATION · 1:00–1:30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ROUGE: how much of the reference did we recover?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5120640" cy="1356360"/>
          </a:xfrm>
          <a:prstGeom prst="roundRect">
            <a:avLst>
              <a:gd name="adj" fmla="val 8090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ROUGE-1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146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Unigram overlap. Recall = 5/6, F1 = 0.833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548640" y="3185160"/>
            <a:ext cx="5120640" cy="1356360"/>
          </a:xfrm>
          <a:prstGeom prst="roundRect">
            <a:avLst>
              <a:gd name="adj" fmla="val 8090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777240" y="3413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3413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3413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ROUGE-2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05384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Bigram overlap. Recall = 3/5, F1 = 0.600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548640" y="4724400"/>
            <a:ext cx="5120640" cy="1356360"/>
          </a:xfrm>
          <a:prstGeom prst="roundRect">
            <a:avLst>
              <a:gd name="adj" fmla="val 8090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777240" y="4953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495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95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ROUGE-L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59308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Longest common subsequence: "the cat on the mat" (5 words). F1 = 0.833</a:t>
            </a:r>
            <a:endParaRPr lang="en-US" sz="17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943600" y="1645920"/>
          <a:ext cx="5696712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 · METRICS FOR GENERATION · 1:00–1:30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BLEU and ROUGE side by side</a:t>
            </a:r>
            <a:endParaRPr lang="en-US" sz="3000" dirty="0"/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BLEU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ROUGE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Orientation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Precision of generated n-grams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Recall of reference n-grams (also F1)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Origin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Machine translation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Summarization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Variants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BLEU-1 to BLEU-4, smoothed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ROUGE-1, ROUGE-2, ROUGE-L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Best when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Wording should match closely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Content coverage matters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Watch out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Zero for short text without smoothing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Rewards copying and long outputs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 · METRICS FOR GENERATION · 1:00–1:30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Overlap metrics have limits: our lab shows why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22376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What to add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7223760" y="219456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Semantic similarity (BERTScore)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Groundedness / faithfulness checks against retrieved chunks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LLM-as-judge with a clear rubric, calibrated on human labels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Human review on a sample</a:t>
            </a:r>
            <a:endParaRPr lang="en-US" sz="1800" dirty="0"/>
          </a:p>
        </p:txBody>
      </p:sp>
      <p:sp>
        <p:nvSpPr>
          <p:cNvPr id="8" name="callout"/>
          <p:cNvSpPr/>
          <p:nvPr/>
        </p:nvSpPr>
        <p:spPr>
          <a:xfrm>
            <a:off x="7223760" y="5120640"/>
            <a:ext cx="4416552" cy="96012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452360" y="5212080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 BLEU/ROUGE as regression signals, not as the final word.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Evaluating Search Systems Hands-On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480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T+1:30 – T+2:15 · 45 min · Linux VM</a:t>
            </a:r>
            <a:endParaRPr lang="en-US" sz="2000" dirty="0"/>
          </a:p>
        </p:txBody>
      </p:sp>
      <p:sp>
        <p:nvSpPr>
          <p:cNvPr id="5" name="item0"/>
          <p:cNvSpPr/>
          <p:nvPr/>
        </p:nvSpPr>
        <p:spPr>
          <a:xfrm>
            <a:off x="7680960" y="2377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09560" y="2505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preparation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10 min</a:t>
            </a:r>
            <a:endParaRPr lang="en-US" sz="1400" dirty="0"/>
          </a:p>
        </p:txBody>
      </p:sp>
      <p:sp>
        <p:nvSpPr>
          <p:cNvPr id="8" name="item1"/>
          <p:cNvSpPr/>
          <p:nvPr/>
        </p:nvSpPr>
        <p:spPr>
          <a:xfrm>
            <a:off x="7680960" y="3520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09560" y="3648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Retrieval evaluation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P, R · 15 min</a:t>
            </a:r>
            <a:endParaRPr lang="en-US" sz="1400" dirty="0"/>
          </a:p>
        </p:txBody>
      </p:sp>
      <p:sp>
        <p:nvSpPr>
          <p:cNvPr id="11" name="item2"/>
          <p:cNvSpPr/>
          <p:nvPr/>
        </p:nvSpPr>
        <p:spPr>
          <a:xfrm>
            <a:off x="7680960" y="4663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09560" y="4791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Generation evaluation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5212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BLEU, ROUGE · 20 min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III · DATA PREPARATION · 1:30–1:40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Lab setup: one Linux VM, one virtual environment</a:t>
            </a:r>
            <a:endParaRPr lang="en-US" sz="3000" dirty="0"/>
          </a:p>
        </p:txBody>
      </p:sp>
      <p:sp>
        <p:nvSpPr>
          <p:cNvPr id="5" name="codebox"/>
          <p:cNvSpPr/>
          <p:nvPr/>
        </p:nvSpPr>
        <p:spPr>
          <a:xfrm>
            <a:off x="548640" y="1691640"/>
            <a:ext cx="6583680" cy="1554480"/>
          </a:xfrm>
          <a:prstGeom prst="roundRect">
            <a:avLst>
              <a:gd name="adj" fmla="val 5882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82880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.venv &amp;&amp; source .venv/bin/activate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numpy scikit-learn sacrebleu rouge-score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optional: pip install sentence-transformers</a:t>
            </a:r>
            <a:endParaRPr lang="en-US" sz="1400" dirty="0"/>
          </a:p>
        </p:txBody>
      </p:sp>
      <p:sp>
        <p:nvSpPr>
          <p:cNvPr id="7" name="codebox"/>
          <p:cNvSpPr/>
          <p:nvPr/>
        </p:nvSpPr>
        <p:spPr>
          <a:xfrm>
            <a:off x="548640" y="3520440"/>
            <a:ext cx="6583680" cy="2377440"/>
          </a:xfrm>
          <a:prstGeom prst="roundRect">
            <a:avLst>
              <a:gd name="adj" fmla="val 3846"/>
            </a:avLst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365760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rag-eval-workshop/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corpus, queries, references, generated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   retrieve, eval_retrieval,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generate_baseline, eval_generation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runs/  rankings and generated answers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7498080" y="1691640"/>
            <a:ext cx="414223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0" name="badge"/>
          <p:cNvSpPr/>
          <p:nvPr/>
        </p:nvSpPr>
        <p:spPr>
          <a:xfrm>
            <a:off x="772668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1920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Requirements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2560320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Python 3.9+, about 2 GB RAM, internet for pip.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7498080" y="3931920"/>
            <a:ext cx="414223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5" name="badge"/>
          <p:cNvSpPr/>
          <p:nvPr/>
        </p:nvSpPr>
        <p:spPr>
          <a:xfrm>
            <a:off x="772668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266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41605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Dataset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4800600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15 chunks, 12 queries: small enough to verify by hand.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III · DATA PREPARATION · 1:30–1:40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preparation: four assets drive every metric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5408676" cy="2080260"/>
          </a:xfrm>
          <a:prstGeom prst="roundRect">
            <a:avLst>
              <a:gd name="adj" fmla="val 5275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874520"/>
            <a:ext cx="4311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Reference chunks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14600"/>
            <a:ext cx="4860036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corpus.json: 15 knowledge-base chunks about Linux administration. The search space.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6231636" y="1645920"/>
            <a:ext cx="5408676" cy="2080260"/>
          </a:xfrm>
          <a:prstGeom prst="roundRect">
            <a:avLst>
              <a:gd name="adj" fmla="val 5275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6460236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6023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100316" y="1874520"/>
            <a:ext cx="4311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Relevance labels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505956" y="2514600"/>
            <a:ext cx="4860036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queries.json: 12 queries with the chunk ids that are relevant. Ground truth for retrieval.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548640" y="4000500"/>
            <a:ext cx="5408676" cy="2080260"/>
          </a:xfrm>
          <a:prstGeom prst="roundRect">
            <a:avLst>
              <a:gd name="adj" fmla="val 5275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777240" y="42291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229100"/>
            <a:ext cx="4311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Reference answers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869180"/>
            <a:ext cx="4860036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references.json: one human-written answer per query. Ground truth for generation.</a:t>
            </a:r>
            <a:endParaRPr lang="en-US" sz="1600" dirty="0"/>
          </a:p>
        </p:txBody>
      </p:sp>
      <p:sp>
        <p:nvSpPr>
          <p:cNvPr id="20" name="card"/>
          <p:cNvSpPr/>
          <p:nvPr/>
        </p:nvSpPr>
        <p:spPr>
          <a:xfrm>
            <a:off x="6231636" y="4000500"/>
            <a:ext cx="5408676" cy="2080260"/>
          </a:xfrm>
          <a:prstGeom prst="roundRect">
            <a:avLst>
              <a:gd name="adj" fmla="val 5275"/>
            </a:avLst>
          </a:prstGeom>
          <a:solidFill>
            <a:schemeClr val="bg2"/>
          </a:solidFill>
          <a:ln/>
        </p:spPr>
      </p:sp>
      <p:sp>
        <p:nvSpPr>
          <p:cNvPr id="21" name="badge"/>
          <p:cNvSpPr/>
          <p:nvPr/>
        </p:nvSpPr>
        <p:spPr>
          <a:xfrm>
            <a:off x="6460236" y="42291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60236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100316" y="4229100"/>
            <a:ext cx="4311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Generated texts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6505956" y="4869180"/>
            <a:ext cx="4860036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generated_llm.json plus an extractive baseline built from retrieval output. The systems under test.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III · RETRIEVAL EVALUATION THROUGH PRECISION AND RECALL · 1:40–1:55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Retrieval evaluation: rank everything, then score it</a:t>
            </a:r>
            <a:endParaRPr lang="en-US" sz="3000" dirty="0"/>
          </a:p>
        </p:txBody>
      </p:sp>
      <p:sp>
        <p:nvSpPr>
          <p:cNvPr id="5" name="codebox"/>
          <p:cNvSpPr/>
          <p:nvPr/>
        </p:nvSpPr>
        <p:spPr>
          <a:xfrm>
            <a:off x="548640" y="1645920"/>
            <a:ext cx="11091672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7830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src/retrieve.py --method tfidf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src/eval_retrieval.py --run runs/tfidf.json --k 3 --verbose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301752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3154680"/>
            <a:ext cx="25603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981298"/>
            <a:ext cx="22860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Precision@3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310128" y="301752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10128" y="3154680"/>
            <a:ext cx="25603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0.875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3447288" y="3981298"/>
            <a:ext cx="22860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Recall@3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71616" y="301752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071616" y="3154680"/>
            <a:ext cx="25603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0.909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208776" y="3981298"/>
            <a:ext cx="22860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MAP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833104" y="3017520"/>
            <a:ext cx="2807208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833104" y="3154680"/>
            <a:ext cx="2807208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8970264" y="3981298"/>
            <a:ext cx="253288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MRR</a:t>
            </a:r>
            <a:endParaRPr lang="en-US" sz="1400" dirty="0"/>
          </a:p>
        </p:txBody>
      </p:sp>
      <p:sp>
        <p:nvSpPr>
          <p:cNvPr id="19" name="callout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49834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Why is precision low? Most queries have 1 relevant chunk, so P@3 is capped at 1/3. Precision depends on how many relevant items exist.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III · GENERATION EVALUATION THROUGH BLEU AND ROUGE · 1:55–2:15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Generation evaluation: BLEU and ROUGE on two generators</a:t>
            </a:r>
            <a:endParaRPr lang="en-US" sz="3000" dirty="0"/>
          </a:p>
        </p:txBody>
      </p:sp>
      <p:sp>
        <p:nvSpPr>
          <p:cNvPr id="5" name="codebox"/>
          <p:cNvSpPr/>
          <p:nvPr/>
        </p:nvSpPr>
        <p:spPr>
          <a:xfrm>
            <a:off x="548640" y="1645920"/>
            <a:ext cx="6766560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7830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src/toy_metrics.py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src/generate_baseline.py runs/tfidf.json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src/eval_generation.py --gen runs/generated_baseline.json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src/eval_generation.py --gen data/generated_llm.json</a:t>
            </a:r>
            <a:endParaRPr lang="en-US" sz="13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  <a:gridCol w="1097280"/>
                <a:gridCol w="1097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System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BLEU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R-1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R-2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R-L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Copy top chunk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0.104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0.488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0.293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0.437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LLM-style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0.171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0.603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0.270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0.500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7680960" y="1645920"/>
            <a:ext cx="3959352" cy="4434840"/>
          </a:xfrm>
          <a:prstGeom prst="roundRect">
            <a:avLst>
              <a:gd name="adj" fmla="val 2771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95528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Discuss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228600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Is the copy-paste baseline really better?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Find a correct paraphrase with a low score.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What would these metrics miss: a hallucination, an omission?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III · HANDS-ON WRAP-UP · 2:10–2:15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Lab exercises and stretch goals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2567178" cy="42976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20240"/>
            <a:ext cx="146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Semantic vs lexical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Run --method embed and compare per-query results. Which queries improved?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3390138" y="1691640"/>
            <a:ext cx="2567178" cy="42976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3618738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1873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258818" y="1920240"/>
            <a:ext cx="146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Add a hard query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664458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a query with no word overlap and compare both retrievers.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6231636" y="1691640"/>
            <a:ext cx="2567178" cy="42976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6460236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6023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100316" y="1920240"/>
            <a:ext cx="146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Wrong but similar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505956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Change kill -9 to kill -1 in an answer. How much do the scores move?</a:t>
            </a:r>
            <a:endParaRPr lang="en-US" sz="1700" dirty="0"/>
          </a:p>
        </p:txBody>
      </p:sp>
      <p:sp>
        <p:nvSpPr>
          <p:cNvPr id="20" name="card"/>
          <p:cNvSpPr/>
          <p:nvPr/>
        </p:nvSpPr>
        <p:spPr>
          <a:xfrm>
            <a:off x="9073134" y="1691640"/>
            <a:ext cx="2567178" cy="42976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21" name="badge"/>
          <p:cNvSpPr/>
          <p:nvPr/>
        </p:nvSpPr>
        <p:spPr>
          <a:xfrm>
            <a:off x="9301734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30173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941814" y="1920240"/>
            <a:ext cx="146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Hybrid + real LLM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347454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Blend TF-IDF and embeddings, or generate with a local model via Ollama.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Common Challenges &amp; Emerging Trends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480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T+2:15 – T+2:45 · 30 min</a:t>
            </a:r>
            <a:endParaRPr lang="en-US" sz="2000" dirty="0"/>
          </a:p>
        </p:txBody>
      </p:sp>
      <p:sp>
        <p:nvSpPr>
          <p:cNvPr id="5" name="item0"/>
          <p:cNvSpPr/>
          <p:nvPr/>
        </p:nvSpPr>
        <p:spPr>
          <a:xfrm>
            <a:off x="7680960" y="2377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09560" y="2505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Challenges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Ambiguity, intent, bias · 15 min</a:t>
            </a:r>
            <a:endParaRPr lang="en-US" sz="1400" dirty="0"/>
          </a:p>
        </p:txBody>
      </p:sp>
      <p:sp>
        <p:nvSpPr>
          <p:cNvPr id="8" name="item1"/>
          <p:cNvSpPr/>
          <p:nvPr/>
        </p:nvSpPr>
        <p:spPr>
          <a:xfrm>
            <a:off x="7680960" y="3520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09560" y="3648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Emerging trends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User-centric, XAI, ethics · 15 min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IV · CHALLENGES · 2:15–2:30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Ambiguity: one query can have several valid answers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937760" y="2148840"/>
            <a:ext cx="2286000" cy="10972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937760" y="2148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"python"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48640" y="164592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Programming language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288036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880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Snake species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8961120" y="219456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961120" y="2194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Comedy troupe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00400" y="2057400"/>
            <a:ext cx="173736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3200400" y="2926080"/>
            <a:ext cx="1783080" cy="3657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23760" y="2697480"/>
            <a:ext cx="17373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548640" y="4114800"/>
            <a:ext cx="5408676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7" name="badge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343400"/>
            <a:ext cx="4311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Effect on evaluation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983480"/>
            <a:ext cx="48600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Raters disagree, so labels are noisy and metrics shift.</a:t>
            </a:r>
            <a:endParaRPr lang="en-US" sz="1700" dirty="0"/>
          </a:p>
        </p:txBody>
      </p:sp>
      <p:sp>
        <p:nvSpPr>
          <p:cNvPr id="21" name="card"/>
          <p:cNvSpPr/>
          <p:nvPr/>
        </p:nvSpPr>
        <p:spPr>
          <a:xfrm>
            <a:off x="6231636" y="4114800"/>
            <a:ext cx="5408676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22" name="badge"/>
          <p:cNvSpPr/>
          <p:nvPr/>
        </p:nvSpPr>
        <p:spPr>
          <a:xfrm>
            <a:off x="6460236" y="4343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60236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100316" y="4343400"/>
            <a:ext cx="4311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Mitigations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505956" y="4983480"/>
            <a:ext cx="48600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Graded labels, multiple references, intent-aware test sets, ask a clarifying question.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IV · CHALLENGES · 2:15–2:30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Intent and dynamicity: the target keeps moving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53949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6" name="card"/>
          <p:cNvSpPr/>
          <p:nvPr/>
        </p:nvSpPr>
        <p:spPr>
          <a:xfrm>
            <a:off x="6245352" y="1645920"/>
            <a:ext cx="53949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105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Intent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Informational: "how does cron work"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Navigational: "ufw docs"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Task: "fix permission denied on file"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Report metrics per intent, not just overall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519672" y="18105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Dynamicity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19672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Documents are added, edited, removed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Query language and topics drift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Models and prompts get updated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Refresh labels, version the test set, monitor continuously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IV · CHALLENGES · 2:15–2:30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Evaluation bias: six ways scores can mislead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8745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Position bias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1460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Users and raters favour top results. Randomize order in judging.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4337304" y="164592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4565904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6590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205984" y="18745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Annotator bias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611624" y="251460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Background and fatigue shape labels. Use guidelines and measure agreement.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8125968" y="164592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8354568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545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994648" y="18745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Pooling / selection bias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400288" y="251460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Only items shown by an old system get judged. Judge a union of systems.</a:t>
            </a:r>
            <a:endParaRPr lang="en-US" sz="1700" dirty="0"/>
          </a:p>
        </p:txBody>
      </p:sp>
      <p:sp>
        <p:nvSpPr>
          <p:cNvPr id="20" name="card"/>
          <p:cNvSpPr/>
          <p:nvPr/>
        </p:nvSpPr>
        <p:spPr>
          <a:xfrm>
            <a:off x="548640" y="402336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1" name="badge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25196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Metric bias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8920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ROUGE favours length and copying; BLEU favours exact wording.</a:t>
            </a:r>
            <a:endParaRPr lang="en-US" sz="1700" dirty="0"/>
          </a:p>
        </p:txBody>
      </p:sp>
      <p:sp>
        <p:nvSpPr>
          <p:cNvPr id="25" name="card"/>
          <p:cNvSpPr/>
          <p:nvPr/>
        </p:nvSpPr>
        <p:spPr>
          <a:xfrm>
            <a:off x="4337304" y="402336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6" name="badge"/>
          <p:cNvSpPr/>
          <p:nvPr/>
        </p:nvSpPr>
        <p:spPr>
          <a:xfrm>
            <a:off x="4565904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65904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205984" y="425196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Judge bias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4611624" y="48920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LLM judges prefer verbose and self-similar answers. Calibrate on human labels.</a:t>
            </a:r>
            <a:endParaRPr lang="en-US" sz="1700" dirty="0"/>
          </a:p>
        </p:txBody>
      </p:sp>
      <p:sp>
        <p:nvSpPr>
          <p:cNvPr id="30" name="card"/>
          <p:cNvSpPr/>
          <p:nvPr/>
        </p:nvSpPr>
        <p:spPr>
          <a:xfrm>
            <a:off x="8125968" y="402336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1" name="badge"/>
          <p:cNvSpPr/>
          <p:nvPr/>
        </p:nvSpPr>
        <p:spPr>
          <a:xfrm>
            <a:off x="8354568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35456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994648" y="425196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Coverage bias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8400288" y="48920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Test set misses languages, topics or user groups. Audit by slice.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IV · EMERGING TRENDS · 2:30–2:45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User-centric metrics ask: did this actually help?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Outcomes that matter to users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548640" y="2057400"/>
            <a:ext cx="2628900" cy="1897380"/>
          </a:xfrm>
          <a:prstGeom prst="roundRect">
            <a:avLst>
              <a:gd name="adj" fmla="val 5783"/>
            </a:avLst>
          </a:prstGeom>
          <a:solidFill>
            <a:schemeClr val="bg2"/>
          </a:solidFill>
          <a:ln/>
        </p:spPr>
      </p:sp>
      <p:sp>
        <p:nvSpPr>
          <p:cNvPr id="7" name="badge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286000"/>
            <a:ext cx="1531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Task success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20802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Did they finish?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3406140" y="2057400"/>
            <a:ext cx="2628900" cy="1897380"/>
          </a:xfrm>
          <a:prstGeom prst="roundRect">
            <a:avLst>
              <a:gd name="adj" fmla="val 5783"/>
            </a:avLst>
          </a:prstGeom>
          <a:solidFill>
            <a:schemeClr val="bg2"/>
          </a:solidFill>
          <a:ln/>
        </p:spPr>
      </p:sp>
      <p:sp>
        <p:nvSpPr>
          <p:cNvPr id="12" name="badge"/>
          <p:cNvSpPr/>
          <p:nvPr/>
        </p:nvSpPr>
        <p:spPr>
          <a:xfrm>
            <a:off x="363474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347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274820" y="2286000"/>
            <a:ext cx="1531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Effort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680460" y="2926080"/>
            <a:ext cx="20802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Time, reformulations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548640" y="4183380"/>
            <a:ext cx="2628900" cy="1897380"/>
          </a:xfrm>
          <a:prstGeom prst="roundRect">
            <a:avLst>
              <a:gd name="adj" fmla="val 5783"/>
            </a:avLst>
          </a:prstGeom>
          <a:solidFill>
            <a:schemeClr val="bg2"/>
          </a:solidFill>
          <a:ln/>
        </p:spPr>
      </p:sp>
      <p:sp>
        <p:nvSpPr>
          <p:cNvPr id="17" name="badge"/>
          <p:cNvSpPr/>
          <p:nvPr/>
        </p:nvSpPr>
        <p:spPr>
          <a:xfrm>
            <a:off x="777240" y="44119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411980"/>
            <a:ext cx="1531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Trust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052060"/>
            <a:ext cx="20802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Calibrated confidence</a:t>
            </a:r>
            <a:endParaRPr lang="en-US" sz="1700" dirty="0"/>
          </a:p>
        </p:txBody>
      </p:sp>
      <p:sp>
        <p:nvSpPr>
          <p:cNvPr id="21" name="card"/>
          <p:cNvSpPr/>
          <p:nvPr/>
        </p:nvSpPr>
        <p:spPr>
          <a:xfrm>
            <a:off x="3406140" y="4183380"/>
            <a:ext cx="2628900" cy="1897380"/>
          </a:xfrm>
          <a:prstGeom prst="roundRect">
            <a:avLst>
              <a:gd name="adj" fmla="val 5783"/>
            </a:avLst>
          </a:prstGeom>
          <a:solidFill>
            <a:schemeClr val="bg2"/>
          </a:solidFill>
          <a:ln/>
        </p:spPr>
      </p:sp>
      <p:sp>
        <p:nvSpPr>
          <p:cNvPr id="22" name="badge"/>
          <p:cNvSpPr/>
          <p:nvPr/>
        </p:nvSpPr>
        <p:spPr>
          <a:xfrm>
            <a:off x="3634740" y="44119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634740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274820" y="4411980"/>
            <a:ext cx="1531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Satisfaction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3680460" y="5052060"/>
            <a:ext cx="20802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Ratings, return rate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RAG triad</a:t>
            </a:r>
            <a:endParaRPr lang="en-US" sz="2000" dirty="0"/>
          </a:p>
        </p:txBody>
      </p:sp>
      <p:sp>
        <p:nvSpPr>
          <p:cNvPr id="27" name="card"/>
          <p:cNvSpPr/>
          <p:nvPr/>
        </p:nvSpPr>
        <p:spPr>
          <a:xfrm>
            <a:off x="6400800" y="2057400"/>
            <a:ext cx="5239512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7512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Context relevance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Query ↔ retrieved chunks</a:t>
            </a:r>
            <a:endParaRPr lang="en-US" sz="1500" dirty="0"/>
          </a:p>
        </p:txBody>
      </p:sp>
      <p:sp>
        <p:nvSpPr>
          <p:cNvPr id="30" name="card"/>
          <p:cNvSpPr/>
          <p:nvPr/>
        </p:nvSpPr>
        <p:spPr>
          <a:xfrm>
            <a:off x="6400800" y="3337560"/>
            <a:ext cx="5239512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675120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Groundedness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6675120" y="3977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Answer ↔ retrieved chunks</a:t>
            </a:r>
            <a:endParaRPr lang="en-US" sz="1500" dirty="0"/>
          </a:p>
        </p:txBody>
      </p:sp>
      <p:sp>
        <p:nvSpPr>
          <p:cNvPr id="33" name="card"/>
          <p:cNvSpPr/>
          <p:nvPr/>
        </p:nvSpPr>
        <p:spPr>
          <a:xfrm>
            <a:off x="6400800" y="4617720"/>
            <a:ext cx="5239512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675120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Answer relevance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0" y="5257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Answer ↔ query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IV · EMERGING TRENDS · 2:30–2:45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Explainable search: show why an answer appeared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667512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Question: How do I run a script every night?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Add a line with crontab -e, for example 30 2 * * * /opt/backup.sh runs at 02:30 every day.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91440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3611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[1] c08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51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Source c08: "cron runs scheduled jobs. Edit your schedule with crontab -e…"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2578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Confidence: high · Evidence match: 0.82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498080" y="1645920"/>
            <a:ext cx="4142232" cy="1356360"/>
          </a:xfrm>
          <a:prstGeom prst="roundRect">
            <a:avLst>
              <a:gd name="adj" fmla="val 809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187452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Citations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514600"/>
            <a:ext cx="3593592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Link each claim to its source chunk.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7498080" y="3185160"/>
            <a:ext cx="4142232" cy="1356360"/>
          </a:xfrm>
          <a:prstGeom prst="roundRect">
            <a:avLst>
              <a:gd name="adj" fmla="val 8090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341376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Evidence highlights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4053840"/>
            <a:ext cx="3593592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Show the matching passage.</a:t>
            </a:r>
            <a:endParaRPr lang="en-US" sz="1700" dirty="0"/>
          </a:p>
        </p:txBody>
      </p:sp>
      <p:sp>
        <p:nvSpPr>
          <p:cNvPr id="18" name="card"/>
          <p:cNvSpPr/>
          <p:nvPr/>
        </p:nvSpPr>
        <p:spPr>
          <a:xfrm>
            <a:off x="7498080" y="4724400"/>
            <a:ext cx="4142232" cy="1356360"/>
          </a:xfrm>
          <a:prstGeom prst="roundRect">
            <a:avLst>
              <a:gd name="adj" fmla="val 8090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0" y="49530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Abstain &amp; confidence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5593080"/>
            <a:ext cx="3593592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Say "not found" when evidence is weak.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IV · EMERGING TRENDS · 2:30–2:45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Ethics in evaluation: who is helped and who is harmed?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8745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Fairness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1460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Report metrics by language, region and user group.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37304" y="164592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4565904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6590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205984" y="18745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Privacy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611624" y="251460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Protect query logs and personal data in corpora and test sets.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25968" y="164592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8354568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545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994648" y="187452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Safety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400288" y="251460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Test for harmful or misleading answers in high-stakes domains.</a:t>
            </a:r>
            <a:endParaRPr lang="en-US" sz="1800" dirty="0"/>
          </a:p>
        </p:txBody>
      </p:sp>
      <p:sp>
        <p:nvSpPr>
          <p:cNvPr id="20" name="card"/>
          <p:cNvSpPr/>
          <p:nvPr/>
        </p:nvSpPr>
        <p:spPr>
          <a:xfrm>
            <a:off x="548640" y="402336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1" name="badge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25196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Transparency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8920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Disclose AI-generated answers and their limits.</a:t>
            </a:r>
            <a:endParaRPr lang="en-US" sz="1800" dirty="0"/>
          </a:p>
        </p:txBody>
      </p:sp>
      <p:sp>
        <p:nvSpPr>
          <p:cNvPr id="25" name="card"/>
          <p:cNvSpPr/>
          <p:nvPr/>
        </p:nvSpPr>
        <p:spPr>
          <a:xfrm>
            <a:off x="4337304" y="402336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6" name="badge"/>
          <p:cNvSpPr/>
          <p:nvPr/>
        </p:nvSpPr>
        <p:spPr>
          <a:xfrm>
            <a:off x="4565904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65904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205984" y="425196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Rights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4611624" y="48920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Respect copyright and licensing of indexed content.</a:t>
            </a:r>
            <a:endParaRPr lang="en-US" sz="1800" dirty="0"/>
          </a:p>
        </p:txBody>
      </p:sp>
      <p:sp>
        <p:nvSpPr>
          <p:cNvPr id="30" name="card"/>
          <p:cNvSpPr/>
          <p:nvPr/>
        </p:nvSpPr>
        <p:spPr>
          <a:xfrm>
            <a:off x="8125968" y="402336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1" name="badge"/>
          <p:cNvSpPr/>
          <p:nvPr/>
        </p:nvSpPr>
        <p:spPr>
          <a:xfrm>
            <a:off x="8354568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35456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994648" y="425196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Cost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8400288" y="48920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Weigh compute and energy use of large-scale evaluation.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IV · WRAP-UP · 2:40–2:45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 evaluation checklist you can take back to work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42239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822960" y="207568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7830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Define the task and the users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6217920" y="1691640"/>
            <a:ext cx="542239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0" name="badge"/>
          <p:cNvSpPr/>
          <p:nvPr/>
        </p:nvSpPr>
        <p:spPr>
          <a:xfrm>
            <a:off x="6492240" y="207568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9224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17830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 a labelled golden set</a:t>
            </a:r>
            <a:endParaRPr lang="en-US" sz="1800" dirty="0"/>
          </a:p>
        </p:txBody>
      </p:sp>
      <p:sp>
        <p:nvSpPr>
          <p:cNvPr id="13" name="card"/>
          <p:cNvSpPr/>
          <p:nvPr/>
        </p:nvSpPr>
        <p:spPr>
          <a:xfrm>
            <a:off x="548640" y="3154680"/>
            <a:ext cx="542239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4" name="badge"/>
          <p:cNvSpPr/>
          <p:nvPr/>
        </p:nvSpPr>
        <p:spPr>
          <a:xfrm>
            <a:off x="822960" y="353872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538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32461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Score retrieval and generation separately</a:t>
            </a:r>
            <a:endParaRPr lang="en-US" sz="1800" dirty="0"/>
          </a:p>
        </p:txBody>
      </p:sp>
      <p:sp>
        <p:nvSpPr>
          <p:cNvPr id="17" name="card"/>
          <p:cNvSpPr/>
          <p:nvPr/>
        </p:nvSpPr>
        <p:spPr>
          <a:xfrm>
            <a:off x="6217920" y="3154680"/>
            <a:ext cx="542239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8" name="badge"/>
          <p:cNvSpPr/>
          <p:nvPr/>
        </p:nvSpPr>
        <p:spPr>
          <a:xfrm>
            <a:off x="6492240" y="353872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92240" y="3538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223760" y="32461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Add human review on a sample</a:t>
            </a:r>
            <a:endParaRPr lang="en-US" sz="1800" dirty="0"/>
          </a:p>
        </p:txBody>
      </p:sp>
      <p:sp>
        <p:nvSpPr>
          <p:cNvPr id="21" name="card"/>
          <p:cNvSpPr/>
          <p:nvPr/>
        </p:nvSpPr>
        <p:spPr>
          <a:xfrm>
            <a:off x="548640" y="4617720"/>
            <a:ext cx="542239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2" name="badge"/>
          <p:cNvSpPr/>
          <p:nvPr/>
        </p:nvSpPr>
        <p:spPr>
          <a:xfrm>
            <a:off x="822960" y="50017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5001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47091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Check for bias and slice by group</a:t>
            </a:r>
            <a:endParaRPr lang="en-US" sz="1800" dirty="0"/>
          </a:p>
        </p:txBody>
      </p:sp>
      <p:sp>
        <p:nvSpPr>
          <p:cNvPr id="25" name="card"/>
          <p:cNvSpPr/>
          <p:nvPr/>
        </p:nvSpPr>
        <p:spPr>
          <a:xfrm>
            <a:off x="6217920" y="4617720"/>
            <a:ext cx="542239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6" name="badge"/>
          <p:cNvSpPr/>
          <p:nvPr/>
        </p:nvSpPr>
        <p:spPr>
          <a:xfrm>
            <a:off x="6492240" y="50017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92240" y="5001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223760" y="47091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Report k, dataset, version; monitor over time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Doubt Resolution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480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T+2:45 – T+3:00 · 15 min</a:t>
            </a:r>
            <a:endParaRPr lang="en-US" sz="2000" dirty="0"/>
          </a:p>
        </p:txBody>
      </p:sp>
      <p:sp>
        <p:nvSpPr>
          <p:cNvPr id="5" name="item0"/>
          <p:cNvSpPr/>
          <p:nvPr/>
        </p:nvSpPr>
        <p:spPr>
          <a:xfrm>
            <a:off x="7680960" y="2377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09560" y="2505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Open Q&amp;A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Concepts and lab issues</a:t>
            </a:r>
            <a:endParaRPr lang="en-US" sz="1400" dirty="0"/>
          </a:p>
        </p:txBody>
      </p:sp>
      <p:sp>
        <p:nvSpPr>
          <p:cNvPr id="8" name="item1"/>
          <p:cNvSpPr/>
          <p:nvPr/>
        </p:nvSpPr>
        <p:spPr>
          <a:xfrm>
            <a:off x="7680960" y="3520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09560" y="3648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Recap &amp; next steps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Resources and practice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 V · DOUBT RESOLUTION · 2:45–3:00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Key takeaways, and where to go next</a:t>
            </a:r>
            <a:endParaRPr lang="en-US" sz="30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548640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8105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Remember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Evaluate retrieval and generation separately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Always state k and the dataset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BLEU/ROUGE measure overlap, not truth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Humans and users remain the ground truth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Watch bias, drift and ethics continuously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6336792" y="1645920"/>
            <a:ext cx="530352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11112" y="18105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Tools to explore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611112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Retrieval metrics: ir_measures, pytrec_eval, ranx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Text metrics: sacrebleu, rouge-score, BERTScore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RAG evaluation: RAGAS, TruLens, ARES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Benchmarks: BEIR, MTEB, TREC tracks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Workshop: rag_eval_workshop.md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ievalEval">
  <a:themeElements>
    <a:clrScheme name="RetrievalEval">
      <a:dk1>
        <a:srgbClr val="0B1F33"/>
      </a:dk1>
      <a:lt1>
        <a:srgbClr val="FFFFFF"/>
      </a:lt1>
      <a:dk2>
        <a:srgbClr val="1D3B5A"/>
      </a:dk2>
      <a:lt2>
        <a:srgbClr val="EAF2F8"/>
      </a:lt2>
      <a:accent1>
        <a:srgbClr val="0FB5AE"/>
      </a:accent1>
      <a:accent2>
        <a:srgbClr val="F4A261"/>
      </a:accent2>
      <a:accent3>
        <a:srgbClr val="D9573B"/>
      </a:accent3>
      <a:accent4>
        <a:srgbClr val="5B6CFF"/>
      </a:accent4>
      <a:accent5>
        <a:srgbClr val="0B7A75"/>
      </a:accent5>
      <a:accent6>
        <a:srgbClr val="5C6B7A"/>
      </a:accent6>
      <a:hlink>
        <a:srgbClr val="0B7A75"/>
      </a:hlink>
      <a:folHlink>
        <a:srgbClr val="5C6B7A"/>
      </a:folHlink>
    </a:clrScheme>
    <a:fontScheme name="RetrievalEv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Semantic and Generative Search Systems</dc:title>
  <dc:subject>PptxGenJS Presentation</dc:subject>
  <dc:creator>Workshop</dc:creator>
  <cp:lastModifiedBy>Workshop</cp:lastModifiedBy>
  <cp:revision>1</cp:revision>
  <dcterms:created xsi:type="dcterms:W3CDTF">2026-10-15T05:21:20Z</dcterms:created>
  <dcterms:modified xsi:type="dcterms:W3CDTF">2026-10-15T05:21:20Z</dcterms:modified>
</cp:coreProperties>
</file>